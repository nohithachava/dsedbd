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b34e80fa-15fa-c102-9598-11ea9d4c4b33}">
          <p14:sldIdLst>
            <p14:sldId id="256"/>
            <p14:sldId id="257"/>
            <p14:sldId id="258"/>
            <p14:sldId id="259"/>
            <p14:sldId id="260"/>
          </p14:sldIdLst>
        </p14:section>
        <p14:section name="Architecture &amp; Data" id="{b3123dda-a776-af69-9603-bc560c6b2324}">
          <p14:sldIdLst>
            <p14:sldId id="261"/>
            <p14:sldId id="262"/>
            <p14:sldId id="263"/>
            <p14:sldId id="264"/>
          </p14:sldIdLst>
        </p14:section>
        <p14:section name="Core Engines" id="{7cad5221-2118-1f1c-d33e-0878a521c03a}">
          <p14:sldIdLst>
            <p14:sldId id="265"/>
            <p14:sldId id="266"/>
          </p14:sldIdLst>
        </p14:section>
        <p14:section name="API &amp; Security" id="{660dc8a4-370c-3fe4-70aa-29f20be1bcd5}">
          <p14:sldIdLst>
            <p14:sldId id="267"/>
            <p14:sldId id="268"/>
          </p14:sldIdLst>
        </p14:section>
        <p14:section name="Quality &amp; Roadmap" id="{0ed73cdb-0c92-067a-5754-89056a5d82e7}">
          <p14:sldIdLst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E293B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E293B"/>
                </a:solidFill>
                <a:latin typeface="+mn-lt"/>
              </a:rPr>
              <a:t>Score = 100 points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7C3AE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DB2777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Skills</c:v>
                </c:pt>
                <c:pt idx="1">
                  <c:v>Experience</c:v>
                </c:pt>
                <c:pt idx="2">
                  <c:v>Education</c:v>
                </c:pt>
                <c:pt idx="3">
                  <c:v>Certifications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60</c:v>
                </c:pt>
                <c:pt idx="1">
                  <c:v>20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E29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team. HireSphere is a job portal that parses resumes into structured data and scores candidates against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of the project: database-driven recruitment platform with resume parsing and matching, built around relational design and distributed REST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problems: manual screening, unstructured data, poor fit, and a monolithic backend that does not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manual, file-based, monolithic approach with the proposed parsed, relational, service-based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capabilities across the two user roles: job seekers and recruiters.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target design from the project abstract: gateway, five services, polyglot persistence and cross-cutting DevOps.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flow: React client calls the FastAPI REST API with a JWT. Routers delegate to services (parsing, matching, skills), which use SQLAlchemy against SQLite in dev or PostgreSQL via Docker Compose.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Solid chips are in the current build; dashed chips are planned in the abstract (pgvector, MongoDB, Elasticsearch, Redis, NLP microservice, CI/CD and monitoring).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live in link tables (candidate_skills, job_skills) so nothing is repeated. The UNIQUE constraint prevents duplicate applications even under concurrent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upload → extract → section detection → structured data → ATS audit. Experience years are computed from date ranges in the resume.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= skills 60 + experience 20 + education 10 + certifications 10. The result includes matched and missing skills and plain-English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docs are available at /docs (Swagger UI). Listings use filters and pagination; recruiter-only routes return 403 for job seekers.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Recruiters only see applicants and candidate rankings for their own jobs. The old prototype stored plain-text passwords in localStorage; the backend uses bcrypt and JWTs.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pytest tests and a 45-request Postman collection with 74 assertions, including negative tests for 401, 403, 409 and 422.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both journeys. Mention that connecting the frontend means mapping camelCase types to the API's snake_case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items come from the project abstract and are not in the first backend yet; the code structure leaves room for each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HireSphere  ·  Job Portal with Resume Parsing &amp; Matching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KONERU LAKSHMAIAH EDUCATION FOUNDATION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Database Systems Engineering and Distributed Backend Development (25CS1302E)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HireSphere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2"/>
                </a:solidFill>
              </a:rPr>
              <a:t>Job Portal with Resume Parsing &amp; Matching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747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database-driven web platform that automates resume parsing and intelligent candidate-job matching</a:t>
            </a:r>
            <a:endParaRPr lang="en-US" sz="1600" dirty="0"/>
          </a:p>
        </p:txBody>
      </p:sp>
      <p:sp>
        <p:nvSpPr>
          <p:cNvPr id="7" name="Team card"/>
          <p:cNvSpPr/>
          <p:nvPr/>
        </p:nvSpPr>
        <p:spPr>
          <a:xfrm>
            <a:off x="731520" y="4434840"/>
            <a:ext cx="64008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617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TEAM 13  ·  SEC 07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9377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M. Mohana Asmitha  (2520030486)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G. Laasya  (2520030118)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CH. Nohitha  (2520030130)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217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KLH · Y25 2026-2027 · Trimester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Abstract</a:t>
            </a:r>
            <a:endParaRPr lang="en-US" sz="3600" dirty="0"/>
          </a:p>
        </p:txBody>
      </p:sp>
      <p:sp>
        <p:nvSpPr>
          <p:cNvPr id="3" name="Abstract card"/>
          <p:cNvSpPr/>
          <p:nvPr/>
        </p:nvSpPr>
        <p:spPr>
          <a:xfrm>
            <a:off x="548640" y="1508760"/>
            <a:ext cx="676656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OVERVIEW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 database-driven web application that simplifies recruitment for job seekers and recruiters. Candidates build profiles, upload resumes and apply to roles; recruiters post vacancies and review applicants.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Resume parsing extracts skills, education, experience, projects and certifications into a structured relational database.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 matching algorithm compares candidate profiles with job requirements and generates a compatibility score from skills, experience, education and certifications.</a:t>
            </a:r>
            <a:endParaRPr lang="en-US" sz="1900" dirty="0"/>
          </a:p>
        </p:txBody>
      </p:sp>
      <p:sp>
        <p:nvSpPr>
          <p:cNvPr id="6" name="Pillar Relational DB design"/>
          <p:cNvSpPr/>
          <p:nvPr/>
        </p:nvSpPr>
        <p:spPr>
          <a:xfrm>
            <a:off x="7589520" y="1508760"/>
            <a:ext cx="405079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7" name="Pillar 1 circle"/>
          <p:cNvSpPr/>
          <p:nvPr/>
        </p:nvSpPr>
        <p:spPr>
          <a:xfrm>
            <a:off x="7818120" y="16916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0" descr="Pillar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3908" y="1827428"/>
            <a:ext cx="231343" cy="23134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50392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Relational DB design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286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Normalization, keys, indexing, transactions &amp; query optimization</a:t>
            </a:r>
            <a:endParaRPr lang="en-US" sz="1400" dirty="0"/>
          </a:p>
        </p:txBody>
      </p:sp>
      <p:sp>
        <p:nvSpPr>
          <p:cNvPr id="11" name="Pillar Distributed services"/>
          <p:cNvSpPr/>
          <p:nvPr/>
        </p:nvSpPr>
        <p:spPr>
          <a:xfrm>
            <a:off x="7589520" y="3086100"/>
            <a:ext cx="405079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2" name="Pillar 2 circle"/>
          <p:cNvSpPr/>
          <p:nvPr/>
        </p:nvSpPr>
        <p:spPr>
          <a:xfrm>
            <a:off x="7818120" y="32689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1" descr="Pillar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908" y="3404768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503920" y="32689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Distributed services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818120" y="38633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User, job, resume, matching &amp; application services over REST APIs</a:t>
            </a:r>
            <a:endParaRPr lang="en-US" sz="1400" dirty="0"/>
          </a:p>
        </p:txBody>
      </p:sp>
      <p:sp>
        <p:nvSpPr>
          <p:cNvPr id="16" name="Pillar Real-world impact"/>
          <p:cNvSpPr/>
          <p:nvPr/>
        </p:nvSpPr>
        <p:spPr>
          <a:xfrm>
            <a:off x="7589520" y="4663440"/>
            <a:ext cx="405079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7" name="Pillar 3 circle"/>
          <p:cNvSpPr/>
          <p:nvPr/>
        </p:nvSpPr>
        <p:spPr>
          <a:xfrm>
            <a:off x="7818120" y="484632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8" name="Image 2" descr="Pillar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908" y="4982108"/>
            <a:ext cx="231343" cy="23134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03920" y="4846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Real-world impact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818120" y="54406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Faster screening, personalized recommendations, better candidate fit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Recruitment today is slow and inconsistent: recruiters manually read stacks of resumes while candidates struggle to find roles that truly fit their skills.</a:t>
            </a:r>
            <a:endParaRPr lang="en-US" sz="1700" dirty="0"/>
          </a:p>
        </p:txBody>
      </p:sp>
      <p:sp>
        <p:nvSpPr>
          <p:cNvPr id="4" name="Problem card 1"/>
          <p:cNvSpPr/>
          <p:nvPr/>
        </p:nvSpPr>
        <p:spPr>
          <a:xfrm>
            <a:off x="548640" y="2194560"/>
            <a:ext cx="5408676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5" name="Problem number 1"/>
          <p:cNvSpPr/>
          <p:nvPr/>
        </p:nvSpPr>
        <p:spPr>
          <a:xfrm>
            <a:off x="822960" y="245059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450592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Manual resume screening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48600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Recruiters spend significant time reading unstructured resumes to shortlist candidates, which is slow and error-prone.</a:t>
            </a:r>
            <a:endParaRPr lang="en-US" sz="1500" dirty="0"/>
          </a:p>
        </p:txBody>
      </p:sp>
      <p:sp>
        <p:nvSpPr>
          <p:cNvPr id="9" name="Problem card 2"/>
          <p:cNvSpPr/>
          <p:nvPr/>
        </p:nvSpPr>
        <p:spPr>
          <a:xfrm>
            <a:off x="6231636" y="2194560"/>
            <a:ext cx="5408676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0" name="Problem number 2"/>
          <p:cNvSpPr/>
          <p:nvPr/>
        </p:nvSpPr>
        <p:spPr>
          <a:xfrm>
            <a:off x="6505956" y="2450592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595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83196" y="2450592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Unstructured resume data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05956" y="3154680"/>
            <a:ext cx="48600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Resumes arrive in inconsistent formats, making it hard to store, search and compare candidate information reliably.</a:t>
            </a:r>
            <a:endParaRPr lang="en-US" sz="1500" dirty="0"/>
          </a:p>
        </p:txBody>
      </p:sp>
      <p:sp>
        <p:nvSpPr>
          <p:cNvPr id="14" name="Problem card 3"/>
          <p:cNvSpPr/>
          <p:nvPr/>
        </p:nvSpPr>
        <p:spPr>
          <a:xfrm>
            <a:off x="548640" y="4206240"/>
            <a:ext cx="5408676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5" name="Problem number 3"/>
          <p:cNvSpPr/>
          <p:nvPr/>
        </p:nvSpPr>
        <p:spPr>
          <a:xfrm>
            <a:off x="822960" y="4462272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462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462272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Poor candidate-job fit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66360"/>
            <a:ext cx="48600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Without a systematic way to compare skills and requirements, candidates apply to unsuitable roles and recruiters miss good matches.</a:t>
            </a:r>
            <a:endParaRPr lang="en-US" sz="1500" dirty="0"/>
          </a:p>
        </p:txBody>
      </p:sp>
      <p:sp>
        <p:nvSpPr>
          <p:cNvPr id="19" name="Problem card 4"/>
          <p:cNvSpPr/>
          <p:nvPr/>
        </p:nvSpPr>
        <p:spPr>
          <a:xfrm>
            <a:off x="6231636" y="4206240"/>
            <a:ext cx="5408676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0" name="Problem number 4"/>
          <p:cNvSpPr/>
          <p:nvPr/>
        </p:nvSpPr>
        <p:spPr>
          <a:xfrm>
            <a:off x="6505956" y="4462272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5956" y="4462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83196" y="4462272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Fragmented backend systems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05956" y="5166360"/>
            <a:ext cx="48600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single monolithic backend struggles to scale user management, job posting, parsing and matching independently.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Existing vs proposed system</a:t>
            </a:r>
            <a:endParaRPr lang="en-US" sz="3600" dirty="0"/>
          </a:p>
        </p:txBody>
      </p:sp>
      <p:sp>
        <p:nvSpPr>
          <p:cNvPr id="3" name="EXISTING SYSTEM header"/>
          <p:cNvSpPr/>
          <p:nvPr/>
        </p:nvSpPr>
        <p:spPr>
          <a:xfrm>
            <a:off x="548640" y="1417320"/>
            <a:ext cx="521208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EXISTING SYSTEM</a:t>
            </a:r>
            <a:endParaRPr lang="en-US" sz="1500" dirty="0"/>
          </a:p>
        </p:txBody>
      </p:sp>
      <p:sp>
        <p:nvSpPr>
          <p:cNvPr id="5" name="PROPOSED SYSTEM header"/>
          <p:cNvSpPr/>
          <p:nvPr/>
        </p:nvSpPr>
        <p:spPr>
          <a:xfrm>
            <a:off x="6428232" y="1417320"/>
            <a:ext cx="52120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28232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PROPOSED SYSTEM</a:t>
            </a:r>
            <a:endParaRPr lang="en-US" sz="1500" dirty="0"/>
          </a:p>
        </p:txBody>
      </p:sp>
      <p:sp>
        <p:nvSpPr>
          <p:cNvPr id="7" name="Existing row 1"/>
          <p:cNvSpPr/>
          <p:nvPr/>
        </p:nvSpPr>
        <p:spPr>
          <a:xfrm>
            <a:off x="548640" y="2057400"/>
            <a:ext cx="52120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8" name="Existing 1 circle"/>
          <p:cNvSpPr/>
          <p:nvPr/>
        </p:nvSpPr>
        <p:spPr>
          <a:xfrm>
            <a:off x="731520" y="2240280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Image 0" descr="Existing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37" y="2334097"/>
            <a:ext cx="159837" cy="15983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205740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Manual resume screening by recruiters, prone to delay and bias</a:t>
            </a:r>
            <a:endParaRPr lang="en-US" sz="1400" dirty="0"/>
          </a:p>
        </p:txBody>
      </p:sp>
      <p:sp>
        <p:nvSpPr>
          <p:cNvPr id="11" name="Compare arrow 1"/>
          <p:cNvSpPr/>
          <p:nvPr/>
        </p:nvSpPr>
        <p:spPr>
          <a:xfrm>
            <a:off x="5870448" y="2276856"/>
            <a:ext cx="457200" cy="274320"/>
          </a:xfrm>
          <a:prstGeom prst="rightArrow">
            <a:avLst/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roposed row 1"/>
          <p:cNvSpPr/>
          <p:nvPr/>
        </p:nvSpPr>
        <p:spPr>
          <a:xfrm>
            <a:off x="6428232" y="2057400"/>
            <a:ext cx="52120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3" name="Proposed 1 circle"/>
          <p:cNvSpPr/>
          <p:nvPr/>
        </p:nvSpPr>
        <p:spPr>
          <a:xfrm>
            <a:off x="6611112" y="224028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Proposed 1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929" y="2334097"/>
            <a:ext cx="159837" cy="15983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14032" y="205740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resume parsing extracts skills, education, experience &amp; certifications</a:t>
            </a:r>
            <a:endParaRPr lang="en-US" sz="1400" dirty="0"/>
          </a:p>
        </p:txBody>
      </p:sp>
      <p:sp>
        <p:nvSpPr>
          <p:cNvPr id="16" name="Existing row 2"/>
          <p:cNvSpPr/>
          <p:nvPr/>
        </p:nvSpPr>
        <p:spPr>
          <a:xfrm>
            <a:off x="548640" y="2862072"/>
            <a:ext cx="52120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7" name="Existing 2 circle"/>
          <p:cNvSpPr/>
          <p:nvPr/>
        </p:nvSpPr>
        <p:spPr>
          <a:xfrm>
            <a:off x="731520" y="3044952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mage 2" descr="Existing 2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37" y="3138769"/>
            <a:ext cx="159837" cy="15983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86207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Resumes stored as unstructured files (PDF/Word) with no relational structure</a:t>
            </a:r>
            <a:endParaRPr lang="en-US" sz="1400" dirty="0"/>
          </a:p>
        </p:txBody>
      </p:sp>
      <p:sp>
        <p:nvSpPr>
          <p:cNvPr id="20" name="Compare arrow 2"/>
          <p:cNvSpPr/>
          <p:nvPr/>
        </p:nvSpPr>
        <p:spPr>
          <a:xfrm>
            <a:off x="5870448" y="3081528"/>
            <a:ext cx="457200" cy="274320"/>
          </a:xfrm>
          <a:prstGeom prst="rightArrow">
            <a:avLst/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roposed row 2"/>
          <p:cNvSpPr/>
          <p:nvPr/>
        </p:nvSpPr>
        <p:spPr>
          <a:xfrm>
            <a:off x="6428232" y="2862072"/>
            <a:ext cx="52120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2" name="Proposed 2 circle"/>
          <p:cNvSpPr/>
          <p:nvPr/>
        </p:nvSpPr>
        <p:spPr>
          <a:xfrm>
            <a:off x="6611112" y="3044952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Proposed 2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929" y="3138769"/>
            <a:ext cx="159837" cy="15983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14032" y="286207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Structured relational storage (PostgreSQL) enables fast, reliable retrieval</a:t>
            </a:r>
            <a:endParaRPr lang="en-US" sz="1400" dirty="0"/>
          </a:p>
        </p:txBody>
      </p:sp>
      <p:sp>
        <p:nvSpPr>
          <p:cNvPr id="25" name="Existing row 3"/>
          <p:cNvSpPr/>
          <p:nvPr/>
        </p:nvSpPr>
        <p:spPr>
          <a:xfrm>
            <a:off x="548640" y="3666744"/>
            <a:ext cx="52120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6" name="Existing 3 circle"/>
          <p:cNvSpPr/>
          <p:nvPr/>
        </p:nvSpPr>
        <p:spPr>
          <a:xfrm>
            <a:off x="731520" y="3849624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7" name="Image 4" descr="Existing 3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37" y="3943441"/>
            <a:ext cx="159837" cy="15983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34440" y="366674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Keyword-based or manual search with no compatibility scoring</a:t>
            </a:r>
            <a:endParaRPr lang="en-US" sz="1400" dirty="0"/>
          </a:p>
        </p:txBody>
      </p:sp>
      <p:sp>
        <p:nvSpPr>
          <p:cNvPr id="29" name="Compare arrow 3"/>
          <p:cNvSpPr/>
          <p:nvPr/>
        </p:nvSpPr>
        <p:spPr>
          <a:xfrm>
            <a:off x="5870448" y="3886200"/>
            <a:ext cx="457200" cy="274320"/>
          </a:xfrm>
          <a:prstGeom prst="rightArrow">
            <a:avLst/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Proposed row 3"/>
          <p:cNvSpPr/>
          <p:nvPr/>
        </p:nvSpPr>
        <p:spPr>
          <a:xfrm>
            <a:off x="6428232" y="3666744"/>
            <a:ext cx="52120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31" name="Proposed 3 circle"/>
          <p:cNvSpPr/>
          <p:nvPr/>
        </p:nvSpPr>
        <p:spPr>
          <a:xfrm>
            <a:off x="6611112" y="384962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mage 5" descr="Proposed 3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929" y="3943441"/>
            <a:ext cx="159837" cy="15983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114032" y="366674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Matching algorithm generates a compatibility score for each application</a:t>
            </a:r>
            <a:endParaRPr lang="en-US" sz="1400" dirty="0"/>
          </a:p>
        </p:txBody>
      </p:sp>
      <p:sp>
        <p:nvSpPr>
          <p:cNvPr id="34" name="Existing row 4"/>
          <p:cNvSpPr/>
          <p:nvPr/>
        </p:nvSpPr>
        <p:spPr>
          <a:xfrm>
            <a:off x="548640" y="4471416"/>
            <a:ext cx="52120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35" name="Existing 4 circle"/>
          <p:cNvSpPr/>
          <p:nvPr/>
        </p:nvSpPr>
        <p:spPr>
          <a:xfrm>
            <a:off x="731520" y="4654296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6" name="Image 6" descr="Existing 4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337" y="4748113"/>
            <a:ext cx="159837" cy="15983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234440" y="447141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Monolithic backend limits scalability and maintainability</a:t>
            </a:r>
            <a:endParaRPr lang="en-US" sz="1400" dirty="0"/>
          </a:p>
        </p:txBody>
      </p:sp>
      <p:sp>
        <p:nvSpPr>
          <p:cNvPr id="38" name="Compare arrow 4"/>
          <p:cNvSpPr/>
          <p:nvPr/>
        </p:nvSpPr>
        <p:spPr>
          <a:xfrm>
            <a:off x="5870448" y="4690872"/>
            <a:ext cx="457200" cy="274320"/>
          </a:xfrm>
          <a:prstGeom prst="rightArrow">
            <a:avLst/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Proposed row 4"/>
          <p:cNvSpPr/>
          <p:nvPr/>
        </p:nvSpPr>
        <p:spPr>
          <a:xfrm>
            <a:off x="6428232" y="4471416"/>
            <a:ext cx="52120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0" name="Proposed 4 circle"/>
          <p:cNvSpPr/>
          <p:nvPr/>
        </p:nvSpPr>
        <p:spPr>
          <a:xfrm>
            <a:off x="6611112" y="465429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Image 7" descr="Proposed 4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4929" y="4748113"/>
            <a:ext cx="159837" cy="159837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114032" y="447141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Distributed services (user, job, resume, matching, application) via REST APIs</a:t>
            </a:r>
            <a:endParaRPr lang="en-US" sz="1400" dirty="0"/>
          </a:p>
        </p:txBody>
      </p:sp>
      <p:sp>
        <p:nvSpPr>
          <p:cNvPr id="43" name="Existing row 5"/>
          <p:cNvSpPr/>
          <p:nvPr/>
        </p:nvSpPr>
        <p:spPr>
          <a:xfrm>
            <a:off x="548640" y="5276088"/>
            <a:ext cx="52120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4" name="Existing 5 circle"/>
          <p:cNvSpPr/>
          <p:nvPr/>
        </p:nvSpPr>
        <p:spPr>
          <a:xfrm>
            <a:off x="731520" y="5458968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5" name="Image 8" descr="Existing 5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337" y="5552785"/>
            <a:ext cx="159837" cy="159837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234440" y="527608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Little to no observability into system performance</a:t>
            </a:r>
            <a:endParaRPr lang="en-US" sz="1400" dirty="0"/>
          </a:p>
        </p:txBody>
      </p:sp>
      <p:sp>
        <p:nvSpPr>
          <p:cNvPr id="47" name="Compare arrow 5"/>
          <p:cNvSpPr/>
          <p:nvPr/>
        </p:nvSpPr>
        <p:spPr>
          <a:xfrm>
            <a:off x="5870448" y="5495544"/>
            <a:ext cx="457200" cy="274320"/>
          </a:xfrm>
          <a:prstGeom prst="rightArrow">
            <a:avLst/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Proposed row 5"/>
          <p:cNvSpPr/>
          <p:nvPr/>
        </p:nvSpPr>
        <p:spPr>
          <a:xfrm>
            <a:off x="6428232" y="5276088"/>
            <a:ext cx="52120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9" name="Proposed 5 circle"/>
          <p:cNvSpPr/>
          <p:nvPr/>
        </p:nvSpPr>
        <p:spPr>
          <a:xfrm>
            <a:off x="6611112" y="545896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0" name="Image 9" descr="Proposed 5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4929" y="5552785"/>
            <a:ext cx="159837" cy="159837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7114032" y="527608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Built-in monitoring and observability across services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HireSphere does</a:t>
            </a:r>
            <a:endParaRPr lang="en-US" sz="3600" dirty="0"/>
          </a:p>
        </p:txBody>
      </p:sp>
      <p:sp>
        <p:nvSpPr>
          <p:cNvPr id="3" name="Feature card 1"/>
          <p:cNvSpPr/>
          <p:nvPr/>
        </p:nvSpPr>
        <p:spPr>
          <a:xfrm>
            <a:off x="548640" y="155448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" name="Feature 1 circle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Feature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198927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Job search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Filter by keyword, location, type, category, skill and experience, with pagination.</a:t>
            </a:r>
            <a:endParaRPr lang="en-US" sz="1400" dirty="0"/>
          </a:p>
        </p:txBody>
      </p:sp>
      <p:sp>
        <p:nvSpPr>
          <p:cNvPr id="8" name="Feature card 2"/>
          <p:cNvSpPr/>
          <p:nvPr/>
        </p:nvSpPr>
        <p:spPr>
          <a:xfrm>
            <a:off x="4337304" y="155448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9" name="Feature 2 circle"/>
          <p:cNvSpPr/>
          <p:nvPr/>
        </p:nvSpPr>
        <p:spPr>
          <a:xfrm>
            <a:off x="4611624" y="182880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age 1" descr="Feature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101" y="1989277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1624" y="25603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Resume parsing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1624" y="297180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Upload PDF or DOCX, or paste text, and get structured profile data.</a:t>
            </a:r>
            <a:endParaRPr lang="en-US" sz="1400" dirty="0"/>
          </a:p>
        </p:txBody>
      </p:sp>
      <p:sp>
        <p:nvSpPr>
          <p:cNvPr id="13" name="Feature card 3"/>
          <p:cNvSpPr/>
          <p:nvPr/>
        </p:nvSpPr>
        <p:spPr>
          <a:xfrm>
            <a:off x="8125968" y="155448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4" name="Feature 3 circle"/>
          <p:cNvSpPr/>
          <p:nvPr/>
        </p:nvSpPr>
        <p:spPr>
          <a:xfrm>
            <a:off x="8400288" y="18288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Feature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765" y="1989277"/>
            <a:ext cx="273406" cy="27340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0288" y="25603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ATS audit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0288" y="297180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resume score with critical issues, warnings and strengths.</a:t>
            </a:r>
            <a:endParaRPr lang="en-US" sz="1400" dirty="0"/>
          </a:p>
        </p:txBody>
      </p:sp>
      <p:sp>
        <p:nvSpPr>
          <p:cNvPr id="18" name="Feature card 4"/>
          <p:cNvSpPr/>
          <p:nvPr/>
        </p:nvSpPr>
        <p:spPr>
          <a:xfrm>
            <a:off x="548640" y="397764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9" name="Feature 4 circle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Image 3" descr="Feature 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" y="4412437"/>
            <a:ext cx="273406" cy="27340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98348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Match scoring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949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0–100 fit with matched and missing skills and a clear verdict.</a:t>
            </a:r>
            <a:endParaRPr lang="en-US" sz="1400" dirty="0"/>
          </a:p>
        </p:txBody>
      </p:sp>
      <p:sp>
        <p:nvSpPr>
          <p:cNvPr id="23" name="Feature card 5"/>
          <p:cNvSpPr/>
          <p:nvPr/>
        </p:nvSpPr>
        <p:spPr>
          <a:xfrm>
            <a:off x="4337304" y="397764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4" name="Feature 5 circle"/>
          <p:cNvSpPr/>
          <p:nvPr/>
        </p:nvSpPr>
        <p:spPr>
          <a:xfrm>
            <a:off x="4611624" y="425196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mage 4" descr="Feature 5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101" y="4412437"/>
            <a:ext cx="273406" cy="27340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11624" y="498348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611624" y="53949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Personalised job suggestions ranked by each candidate's score.</a:t>
            </a:r>
            <a:endParaRPr lang="en-US" sz="1400" dirty="0"/>
          </a:p>
        </p:txBody>
      </p:sp>
      <p:sp>
        <p:nvSpPr>
          <p:cNvPr id="28" name="Feature card 6"/>
          <p:cNvSpPr/>
          <p:nvPr/>
        </p:nvSpPr>
        <p:spPr>
          <a:xfrm>
            <a:off x="8125968" y="397764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9" name="Feature 6 circle"/>
          <p:cNvSpPr/>
          <p:nvPr/>
        </p:nvSpPr>
        <p:spPr>
          <a:xfrm>
            <a:off x="8400288" y="42519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5" descr="Feature 6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0765" y="4412437"/>
            <a:ext cx="273406" cy="27340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00288" y="498348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Recruiter pipeline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8400288" y="53949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Ranked applicants per job and one-click status updates.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Proposed system architecture</a:t>
            </a:r>
            <a:endParaRPr lang="en-US" sz="3600" dirty="0"/>
          </a:p>
        </p:txBody>
      </p:sp>
      <p:sp>
        <p:nvSpPr>
          <p:cNvPr id="3" name="Clients layer"/>
          <p:cNvSpPr/>
          <p:nvPr/>
        </p:nvSpPr>
        <p:spPr>
          <a:xfrm>
            <a:off x="548640" y="1417320"/>
            <a:ext cx="11091672" cy="594360"/>
          </a:xfrm>
          <a:prstGeom prst="roundRect">
            <a:avLst>
              <a:gd name="adj" fmla="val 18462"/>
            </a:avLst>
          </a:prstGeom>
          <a:solidFill>
            <a:schemeClr val="accent4">
              <a:alpha val="20000"/>
            </a:schemeClr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Clients:  Candidate Web App   |   Recruiter Web App</a:t>
            </a:r>
            <a:endParaRPr lang="en-US" sz="1700" dirty="0"/>
          </a:p>
        </p:txBody>
      </p:sp>
      <p:sp>
        <p:nvSpPr>
          <p:cNvPr id="5" name="Arrow clients"/>
          <p:cNvSpPr/>
          <p:nvPr/>
        </p:nvSpPr>
        <p:spPr>
          <a:xfrm>
            <a:off x="5943600" y="2039112"/>
            <a:ext cx="301752" cy="182880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Gateway layer"/>
          <p:cNvSpPr/>
          <p:nvPr/>
        </p:nvSpPr>
        <p:spPr>
          <a:xfrm>
            <a:off x="548640" y="2240280"/>
            <a:ext cx="11091672" cy="502920"/>
          </a:xfrm>
          <a:prstGeom prst="roundRect">
            <a:avLst>
              <a:gd name="adj" fmla="val 21818"/>
            </a:avLst>
          </a:prstGeom>
          <a:solidFill>
            <a:schemeClr val="accent1">
              <a:alpha val="25000"/>
            </a:schemeClr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40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REST API Gateway</a:t>
            </a:r>
            <a:endParaRPr lang="en-US" sz="1700" dirty="0"/>
          </a:p>
        </p:txBody>
      </p:sp>
      <p:sp>
        <p:nvSpPr>
          <p:cNvPr id="8" name="Arrow gateway"/>
          <p:cNvSpPr/>
          <p:nvPr/>
        </p:nvSpPr>
        <p:spPr>
          <a:xfrm>
            <a:off x="5943600" y="2770632"/>
            <a:ext cx="301752" cy="182880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ervice User Management"/>
          <p:cNvSpPr/>
          <p:nvPr/>
        </p:nvSpPr>
        <p:spPr>
          <a:xfrm>
            <a:off x="548640" y="2971800"/>
            <a:ext cx="207203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0" name="Service 1 circle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0" descr="Service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3232404"/>
            <a:ext cx="210312" cy="21031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31520" y="365760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 Management</a:t>
            </a:r>
            <a:endParaRPr lang="en-US" sz="1600" dirty="0"/>
          </a:p>
        </p:txBody>
      </p:sp>
      <p:sp>
        <p:nvSpPr>
          <p:cNvPr id="13" name="Service Job Management"/>
          <p:cNvSpPr/>
          <p:nvPr/>
        </p:nvSpPr>
        <p:spPr>
          <a:xfrm>
            <a:off x="2803550" y="2971800"/>
            <a:ext cx="207203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4" name="Service 2 circle"/>
          <p:cNvSpPr/>
          <p:nvPr/>
        </p:nvSpPr>
        <p:spPr>
          <a:xfrm>
            <a:off x="2986430" y="31089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mage 1" descr="Service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874" y="3232404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986430" y="365760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Job Management</a:t>
            </a:r>
            <a:endParaRPr lang="en-US" sz="1600" dirty="0"/>
          </a:p>
        </p:txBody>
      </p:sp>
      <p:sp>
        <p:nvSpPr>
          <p:cNvPr id="17" name="Service Resume Processing"/>
          <p:cNvSpPr/>
          <p:nvPr/>
        </p:nvSpPr>
        <p:spPr>
          <a:xfrm>
            <a:off x="5058461" y="2971800"/>
            <a:ext cx="207203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8" name="Service 3 circle"/>
          <p:cNvSpPr/>
          <p:nvPr/>
        </p:nvSpPr>
        <p:spPr>
          <a:xfrm>
            <a:off x="5241341" y="310896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9" name="Image 2" descr="Service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785" y="3232404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41341" y="365760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Resume Processing</a:t>
            </a:r>
            <a:endParaRPr lang="en-US" sz="1600" dirty="0"/>
          </a:p>
        </p:txBody>
      </p:sp>
      <p:sp>
        <p:nvSpPr>
          <p:cNvPr id="21" name="Service Matching Engine"/>
          <p:cNvSpPr/>
          <p:nvPr/>
        </p:nvSpPr>
        <p:spPr>
          <a:xfrm>
            <a:off x="7313371" y="2971800"/>
            <a:ext cx="207203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2" name="Service 4 circle"/>
          <p:cNvSpPr/>
          <p:nvPr/>
        </p:nvSpPr>
        <p:spPr>
          <a:xfrm>
            <a:off x="7496251" y="31089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3" name="Image 3" descr="Service 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695" y="3232404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96251" y="365760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Matching Engine</a:t>
            </a:r>
            <a:endParaRPr lang="en-US" sz="1600" dirty="0"/>
          </a:p>
        </p:txBody>
      </p:sp>
      <p:sp>
        <p:nvSpPr>
          <p:cNvPr id="25" name="Service Application Management"/>
          <p:cNvSpPr/>
          <p:nvPr/>
        </p:nvSpPr>
        <p:spPr>
          <a:xfrm>
            <a:off x="9568282" y="2971800"/>
            <a:ext cx="207203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6" name="Service 5 circle"/>
          <p:cNvSpPr/>
          <p:nvPr/>
        </p:nvSpPr>
        <p:spPr>
          <a:xfrm>
            <a:off x="9751162" y="31089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mage 4" descr="Service 5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4606" y="3232404"/>
            <a:ext cx="210312" cy="21031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751162" y="365760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Application Management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DATA &amp; INFRASTRUCTURE LAYER</a:t>
            </a:r>
            <a:endParaRPr lang="en-US" sz="1300" dirty="0"/>
          </a:p>
        </p:txBody>
      </p:sp>
      <p:sp>
        <p:nvSpPr>
          <p:cNvPr id="30" name="Data PostgreSQL + pgvector"/>
          <p:cNvSpPr/>
          <p:nvPr/>
        </p:nvSpPr>
        <p:spPr>
          <a:xfrm>
            <a:off x="548640" y="4754880"/>
            <a:ext cx="3575304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31" name="Data 1 circle"/>
          <p:cNvSpPr/>
          <p:nvPr/>
        </p:nvSpPr>
        <p:spPr>
          <a:xfrm>
            <a:off x="731520" y="48463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Image 5" descr="Data 1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" y="4969764"/>
            <a:ext cx="210312" cy="21031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371600" y="4754880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PostgreSQL + pgvector</a:t>
            </a:r>
            <a:endParaRPr lang="en-US" sz="1700" dirty="0"/>
          </a:p>
        </p:txBody>
      </p:sp>
      <p:sp>
        <p:nvSpPr>
          <p:cNvPr id="34" name="Data MongoDB"/>
          <p:cNvSpPr/>
          <p:nvPr/>
        </p:nvSpPr>
        <p:spPr>
          <a:xfrm>
            <a:off x="4306824" y="4754880"/>
            <a:ext cx="3575304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35" name="Data 2 circle"/>
          <p:cNvSpPr/>
          <p:nvPr/>
        </p:nvSpPr>
        <p:spPr>
          <a:xfrm>
            <a:off x="4489704" y="484632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6" name="Image 6" descr="Data 2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148" y="4969764"/>
            <a:ext cx="210312" cy="21031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129784" y="4754880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MongoDB</a:t>
            </a:r>
            <a:endParaRPr lang="en-US" sz="1700" dirty="0"/>
          </a:p>
        </p:txBody>
      </p:sp>
      <p:sp>
        <p:nvSpPr>
          <p:cNvPr id="38" name="Data Redis Cache"/>
          <p:cNvSpPr/>
          <p:nvPr/>
        </p:nvSpPr>
        <p:spPr>
          <a:xfrm>
            <a:off x="8065008" y="4754880"/>
            <a:ext cx="3575304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39" name="Data 3 circle"/>
          <p:cNvSpPr/>
          <p:nvPr/>
        </p:nvSpPr>
        <p:spPr>
          <a:xfrm>
            <a:off x="8247888" y="484632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0" name="Image 7" descr="Data 3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1332" y="4969764"/>
            <a:ext cx="210312" cy="21031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887968" y="4754880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Redis Cache</a:t>
            </a:r>
            <a:endParaRPr lang="en-US" sz="1700" dirty="0"/>
          </a:p>
        </p:txBody>
      </p:sp>
      <p:sp>
        <p:nvSpPr>
          <p:cNvPr id="42" name="Cross-cutting strip"/>
          <p:cNvSpPr/>
          <p:nvPr/>
        </p:nvSpPr>
        <p:spPr>
          <a:xfrm>
            <a:off x="548640" y="5559552"/>
            <a:ext cx="11091672" cy="640080"/>
          </a:xfrm>
          <a:prstGeom prst="roundRect">
            <a:avLst>
              <a:gd name="adj" fmla="val 17143"/>
            </a:avLst>
          </a:prstGeom>
          <a:solidFill>
            <a:schemeClr val="accent2">
              <a:alpha val="18000"/>
            </a:schemeClr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82296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Cross-cutting: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Docker containerization  ·  OpenTelemetry / Prometheus / Grafana monitoring  ·  CI/CD via GitHub Actions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Implemented architecture (current build)</a:t>
            </a:r>
            <a:endParaRPr lang="en-US" sz="3600" dirty="0"/>
          </a:p>
        </p:txBody>
      </p:sp>
      <p:sp>
        <p:nvSpPr>
          <p:cNvPr id="3" name="Architecture box 1"/>
          <p:cNvSpPr/>
          <p:nvPr/>
        </p:nvSpPr>
        <p:spPr>
          <a:xfrm>
            <a:off x="548640" y="1554480"/>
            <a:ext cx="2286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" name="Arch 1 circle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Arch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191886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CLIENT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React frontend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Vite · TypeScript · Tailwind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>
            <a:off x="2971800" y="2468880"/>
            <a:ext cx="384048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Architecture box 2"/>
          <p:cNvSpPr/>
          <p:nvPr/>
        </p:nvSpPr>
        <p:spPr>
          <a:xfrm>
            <a:off x="3483864" y="1554480"/>
            <a:ext cx="2286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1" name="Arch 2 circle"/>
          <p:cNvSpPr/>
          <p:nvPr/>
        </p:nvSpPr>
        <p:spPr>
          <a:xfrm>
            <a:off x="3712464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Arch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252" y="1918868"/>
            <a:ext cx="231343" cy="23134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52544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API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712464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FastAPI app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3712464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 routers · JWT · Pydantic</a:t>
            </a:r>
            <a:endParaRPr lang="en-US" sz="1400" dirty="0"/>
          </a:p>
        </p:txBody>
      </p:sp>
      <p:sp>
        <p:nvSpPr>
          <p:cNvPr id="16" name="Arrow 2"/>
          <p:cNvSpPr/>
          <p:nvPr/>
        </p:nvSpPr>
        <p:spPr>
          <a:xfrm>
            <a:off x="5907024" y="2468880"/>
            <a:ext cx="384048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Architecture box 3"/>
          <p:cNvSpPr/>
          <p:nvPr/>
        </p:nvSpPr>
        <p:spPr>
          <a:xfrm>
            <a:off x="6419088" y="1554480"/>
            <a:ext cx="2286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8" name="Arch 3 circle"/>
          <p:cNvSpPr/>
          <p:nvPr/>
        </p:nvSpPr>
        <p:spPr>
          <a:xfrm>
            <a:off x="6647688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2" descr="Arch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476" y="1918868"/>
            <a:ext cx="231343" cy="23134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287768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LOGIC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647688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Service layer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6647688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resume_parser · matching · skills</a:t>
            </a:r>
            <a:endParaRPr lang="en-US" sz="1400" dirty="0"/>
          </a:p>
        </p:txBody>
      </p:sp>
      <p:sp>
        <p:nvSpPr>
          <p:cNvPr id="23" name="Arrow 3"/>
          <p:cNvSpPr/>
          <p:nvPr/>
        </p:nvSpPr>
        <p:spPr>
          <a:xfrm>
            <a:off x="8842248" y="2468880"/>
            <a:ext cx="384048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Architecture box 4"/>
          <p:cNvSpPr/>
          <p:nvPr/>
        </p:nvSpPr>
        <p:spPr>
          <a:xfrm>
            <a:off x="9354312" y="1554480"/>
            <a:ext cx="2286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5" name="Arch 4 circle"/>
          <p:cNvSpPr/>
          <p:nvPr/>
        </p:nvSpPr>
        <p:spPr>
          <a:xfrm>
            <a:off x="9582912" y="17830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mage 3" descr="Arch 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8700" y="1918868"/>
            <a:ext cx="231343" cy="23134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222992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DATA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582912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Database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9582912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SQLAlchemy · SQLite / PostgreSQL 16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Six routers, one responsibility each</a:t>
            </a:r>
            <a:endParaRPr lang="en-US" sz="2000" dirty="0"/>
          </a:p>
        </p:txBody>
      </p:sp>
      <p:sp>
        <p:nvSpPr>
          <p:cNvPr id="31" name="Router Auth"/>
          <p:cNvSpPr/>
          <p:nvPr/>
        </p:nvSpPr>
        <p:spPr>
          <a:xfrm>
            <a:off x="548640" y="4617720"/>
            <a:ext cx="1696212" cy="868680"/>
          </a:xfrm>
          <a:prstGeom prst="roundRect">
            <a:avLst>
              <a:gd name="adj" fmla="val 12632"/>
            </a:avLst>
          </a:prstGeom>
          <a:solidFill>
            <a:schemeClr val="accent1">
              <a:alpha val="22000"/>
            </a:schemeClr>
          </a:solidFill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48640" y="4709160"/>
            <a:ext cx="1696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Auth</a:t>
            </a:r>
            <a:endParaRPr lang="en-US" sz="17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5093208"/>
            <a:ext cx="1696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 endpoints</a:t>
            </a:r>
            <a:endParaRPr lang="en-US" sz="1300" dirty="0"/>
          </a:p>
        </p:txBody>
      </p:sp>
      <p:sp>
        <p:nvSpPr>
          <p:cNvPr id="34" name="Router Profile"/>
          <p:cNvSpPr/>
          <p:nvPr/>
        </p:nvSpPr>
        <p:spPr>
          <a:xfrm>
            <a:off x="2427732" y="4617720"/>
            <a:ext cx="1696212" cy="868680"/>
          </a:xfrm>
          <a:prstGeom prst="roundRect">
            <a:avLst>
              <a:gd name="adj" fmla="val 12632"/>
            </a:avLst>
          </a:prstGeom>
          <a:solidFill>
            <a:schemeClr val="accent4">
              <a:alpha val="22000"/>
            </a:schemeClr>
          </a:solidFill>
          <a:ln w="12700">
            <a:solidFill>
              <a:schemeClr val="accent4">
                <a:alpha val="65000"/>
              </a:schemeClr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2427732" y="4709160"/>
            <a:ext cx="1696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Profile</a:t>
            </a:r>
            <a:endParaRPr lang="en-US" sz="1700" dirty="0"/>
          </a:p>
        </p:txBody>
      </p:sp>
      <p:sp>
        <p:nvSpPr>
          <p:cNvPr id="36" name="Text 30"/>
          <p:cNvSpPr txBox="1"/>
          <p:nvPr/>
        </p:nvSpPr>
        <p:spPr>
          <a:xfrm>
            <a:off x="2427732" y="5093208"/>
            <a:ext cx="1696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3 endpoints</a:t>
            </a:r>
            <a:endParaRPr lang="en-US" sz="1300" dirty="0"/>
          </a:p>
        </p:txBody>
      </p:sp>
      <p:sp>
        <p:nvSpPr>
          <p:cNvPr id="37" name="Router Jobs"/>
          <p:cNvSpPr/>
          <p:nvPr/>
        </p:nvSpPr>
        <p:spPr>
          <a:xfrm>
            <a:off x="4306824" y="4617720"/>
            <a:ext cx="1696212" cy="868680"/>
          </a:xfrm>
          <a:prstGeom prst="roundRect">
            <a:avLst>
              <a:gd name="adj" fmla="val 12632"/>
            </a:avLst>
          </a:prstGeom>
          <a:solidFill>
            <a:schemeClr val="accent6">
              <a:alpha val="22000"/>
            </a:schemeClr>
          </a:solidFill>
          <a:ln w="12700">
            <a:solidFill>
              <a:schemeClr val="accent6">
                <a:alpha val="65000"/>
              </a:schemeClr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4306824" y="4709160"/>
            <a:ext cx="1696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Jobs</a:t>
            </a:r>
            <a:endParaRPr lang="en-US" sz="1700" dirty="0"/>
          </a:p>
        </p:txBody>
      </p:sp>
      <p:sp>
        <p:nvSpPr>
          <p:cNvPr id="39" name="Text 33"/>
          <p:cNvSpPr txBox="1"/>
          <p:nvPr/>
        </p:nvSpPr>
        <p:spPr>
          <a:xfrm>
            <a:off x="4306824" y="5093208"/>
            <a:ext cx="1696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7 endpoints</a:t>
            </a:r>
            <a:endParaRPr lang="en-US" sz="1300" dirty="0"/>
          </a:p>
        </p:txBody>
      </p:sp>
      <p:sp>
        <p:nvSpPr>
          <p:cNvPr id="40" name="Router Resumes"/>
          <p:cNvSpPr/>
          <p:nvPr/>
        </p:nvSpPr>
        <p:spPr>
          <a:xfrm>
            <a:off x="6185916" y="4617720"/>
            <a:ext cx="1696212" cy="868680"/>
          </a:xfrm>
          <a:prstGeom prst="roundRect">
            <a:avLst>
              <a:gd name="adj" fmla="val 1263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185916" y="4709160"/>
            <a:ext cx="1696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Resumes</a:t>
            </a:r>
            <a:endParaRPr lang="en-US" sz="1700" dirty="0"/>
          </a:p>
        </p:txBody>
      </p:sp>
      <p:sp>
        <p:nvSpPr>
          <p:cNvPr id="42" name="Text 36"/>
          <p:cNvSpPr txBox="1"/>
          <p:nvPr/>
        </p:nvSpPr>
        <p:spPr>
          <a:xfrm>
            <a:off x="6185916" y="5093208"/>
            <a:ext cx="1696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7 endpoints</a:t>
            </a:r>
            <a:endParaRPr lang="en-US" sz="1300" dirty="0"/>
          </a:p>
        </p:txBody>
      </p:sp>
      <p:sp>
        <p:nvSpPr>
          <p:cNvPr id="43" name="Router Matching"/>
          <p:cNvSpPr/>
          <p:nvPr/>
        </p:nvSpPr>
        <p:spPr>
          <a:xfrm>
            <a:off x="8065008" y="4617720"/>
            <a:ext cx="1696212" cy="868680"/>
          </a:xfrm>
          <a:prstGeom prst="roundRect">
            <a:avLst>
              <a:gd name="adj" fmla="val 12632"/>
            </a:avLst>
          </a:prstGeom>
          <a:solidFill>
            <a:schemeClr val="accent5">
              <a:alpha val="22000"/>
            </a:schemeClr>
          </a:solidFill>
          <a:ln w="12700">
            <a:solidFill>
              <a:schemeClr val="accent5">
                <a:alpha val="65000"/>
              </a:schemeClr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065008" y="4709160"/>
            <a:ext cx="1696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Matching</a:t>
            </a:r>
            <a:endParaRPr lang="en-US" sz="1700" dirty="0"/>
          </a:p>
        </p:txBody>
      </p:sp>
      <p:sp>
        <p:nvSpPr>
          <p:cNvPr id="45" name="Text 39"/>
          <p:cNvSpPr txBox="1"/>
          <p:nvPr/>
        </p:nvSpPr>
        <p:spPr>
          <a:xfrm>
            <a:off x="8065008" y="5093208"/>
            <a:ext cx="1696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3 endpoints</a:t>
            </a:r>
            <a:endParaRPr lang="en-US" sz="1300" dirty="0"/>
          </a:p>
        </p:txBody>
      </p:sp>
      <p:sp>
        <p:nvSpPr>
          <p:cNvPr id="46" name="Router Applications"/>
          <p:cNvSpPr/>
          <p:nvPr/>
        </p:nvSpPr>
        <p:spPr>
          <a:xfrm>
            <a:off x="9944100" y="4617720"/>
            <a:ext cx="1696212" cy="868680"/>
          </a:xfrm>
          <a:prstGeom prst="roundRect">
            <a:avLst>
              <a:gd name="adj" fmla="val 12632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9944100" y="4709160"/>
            <a:ext cx="1696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Applications</a:t>
            </a:r>
            <a:endParaRPr lang="en-US" sz="1700" dirty="0"/>
          </a:p>
        </p:txBody>
      </p:sp>
      <p:sp>
        <p:nvSpPr>
          <p:cNvPr id="48" name="Text 42"/>
          <p:cNvSpPr txBox="1"/>
          <p:nvPr/>
        </p:nvSpPr>
        <p:spPr>
          <a:xfrm>
            <a:off x="9944100" y="5093208"/>
            <a:ext cx="1696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7 endpoints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Routers call plain service functions, so each area can later be split into its own container.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Tools &amp; technologies</a:t>
            </a:r>
            <a:endParaRPr lang="en-US" sz="3600" dirty="0"/>
          </a:p>
        </p:txBody>
      </p:sp>
      <p:sp>
        <p:nvSpPr>
          <p:cNvPr id="3" name="Legend built"/>
          <p:cNvSpPr/>
          <p:nvPr/>
        </p:nvSpPr>
        <p:spPr>
          <a:xfrm>
            <a:off x="6583680" y="1188720"/>
            <a:ext cx="457200" cy="228600"/>
          </a:xfrm>
          <a:prstGeom prst="roundRect">
            <a:avLst>
              <a:gd name="adj" fmla="val 48000"/>
            </a:avLst>
          </a:prstGeom>
          <a:solidFill>
            <a:schemeClr val="accent1">
              <a:alpha val="2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0" y="1170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 current build</a:t>
            </a:r>
            <a:endParaRPr lang="en-US" sz="1200" dirty="0"/>
          </a:p>
        </p:txBody>
      </p:sp>
      <p:sp>
        <p:nvSpPr>
          <p:cNvPr id="5" name="Legend planned"/>
          <p:cNvSpPr/>
          <p:nvPr/>
        </p:nvSpPr>
        <p:spPr>
          <a:xfrm>
            <a:off x="9052560" y="1188720"/>
            <a:ext cx="457200" cy="228600"/>
          </a:xfrm>
          <a:prstGeom prst="roundRect">
            <a:avLst>
              <a:gd name="adj" fmla="val 48000"/>
            </a:avLst>
          </a:prstGeom>
          <a:solidFill>
            <a:schemeClr val="accent1">
              <a:alpha val="6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9601200" y="1170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Planned (abstract)</a:t>
            </a:r>
            <a:endParaRPr lang="en-US" sz="1200" dirty="0"/>
          </a:p>
        </p:txBody>
      </p:sp>
      <p:sp>
        <p:nvSpPr>
          <p:cNvPr id="7" name="Stack label Frontend"/>
          <p:cNvSpPr/>
          <p:nvPr/>
        </p:nvSpPr>
        <p:spPr>
          <a:xfrm>
            <a:off x="548640" y="1600200"/>
            <a:ext cx="25146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8" name="Stack Frontend circle"/>
          <p:cNvSpPr/>
          <p:nvPr/>
        </p:nvSpPr>
        <p:spPr>
          <a:xfrm>
            <a:off x="685800" y="170078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Image 0" descr="Stack Fronten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824228"/>
            <a:ext cx="210312" cy="210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16002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Frontend</a:t>
            </a:r>
            <a:endParaRPr lang="en-US" sz="1600" dirty="0"/>
          </a:p>
        </p:txBody>
      </p:sp>
      <p:sp>
        <p:nvSpPr>
          <p:cNvPr id="11" name="Chip React.js"/>
          <p:cNvSpPr/>
          <p:nvPr/>
        </p:nvSpPr>
        <p:spPr>
          <a:xfrm>
            <a:off x="3337560" y="1723644"/>
            <a:ext cx="1084478" cy="411480"/>
          </a:xfrm>
          <a:prstGeom prst="roundRect">
            <a:avLst>
              <a:gd name="adj" fmla="val 48889"/>
            </a:avLst>
          </a:prstGeom>
          <a:solidFill>
            <a:schemeClr val="accent4">
              <a:alpha val="22000"/>
            </a:schemeClr>
          </a:solidFill>
          <a:ln w="12700">
            <a:solidFill>
              <a:schemeClr val="accent4">
                <a:alpha val="65000"/>
              </a:scheme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37560" y="1723644"/>
            <a:ext cx="10844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React.js</a:t>
            </a:r>
            <a:endParaRPr lang="en-US" sz="1400" dirty="0"/>
          </a:p>
        </p:txBody>
      </p:sp>
      <p:sp>
        <p:nvSpPr>
          <p:cNvPr id="13" name="Chip Vite 6"/>
          <p:cNvSpPr/>
          <p:nvPr/>
        </p:nvSpPr>
        <p:spPr>
          <a:xfrm>
            <a:off x="4531766" y="1723644"/>
            <a:ext cx="916229" cy="411480"/>
          </a:xfrm>
          <a:prstGeom prst="roundRect">
            <a:avLst>
              <a:gd name="adj" fmla="val 48889"/>
            </a:avLst>
          </a:prstGeom>
          <a:solidFill>
            <a:schemeClr val="accent4">
              <a:alpha val="22000"/>
            </a:schemeClr>
          </a:solidFill>
          <a:ln w="12700">
            <a:solidFill>
              <a:schemeClr val="accent4">
                <a:alpha val="65000"/>
              </a:scheme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31766" y="1723644"/>
            <a:ext cx="9162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Vite 6</a:t>
            </a:r>
            <a:endParaRPr lang="en-US" sz="1400" dirty="0"/>
          </a:p>
        </p:txBody>
      </p:sp>
      <p:sp>
        <p:nvSpPr>
          <p:cNvPr id="15" name="Chip TypeScript"/>
          <p:cNvSpPr/>
          <p:nvPr/>
        </p:nvSpPr>
        <p:spPr>
          <a:xfrm>
            <a:off x="5557723" y="1723644"/>
            <a:ext cx="1252728" cy="411480"/>
          </a:xfrm>
          <a:prstGeom prst="roundRect">
            <a:avLst>
              <a:gd name="adj" fmla="val 48889"/>
            </a:avLst>
          </a:prstGeom>
          <a:solidFill>
            <a:schemeClr val="accent4">
              <a:alpha val="22000"/>
            </a:schemeClr>
          </a:solidFill>
          <a:ln w="12700">
            <a:solidFill>
              <a:schemeClr val="accent4">
                <a:alpha val="65000"/>
              </a:scheme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57723" y="1723644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TypeScript</a:t>
            </a:r>
            <a:endParaRPr lang="en-US" sz="1400" dirty="0"/>
          </a:p>
        </p:txBody>
      </p:sp>
      <p:sp>
        <p:nvSpPr>
          <p:cNvPr id="17" name="Chip Tailwind CSS 4"/>
          <p:cNvSpPr/>
          <p:nvPr/>
        </p:nvSpPr>
        <p:spPr>
          <a:xfrm>
            <a:off x="6920179" y="1723644"/>
            <a:ext cx="1589227" cy="411480"/>
          </a:xfrm>
          <a:prstGeom prst="roundRect">
            <a:avLst>
              <a:gd name="adj" fmla="val 48889"/>
            </a:avLst>
          </a:prstGeom>
          <a:solidFill>
            <a:schemeClr val="accent4">
              <a:alpha val="22000"/>
            </a:schemeClr>
          </a:solidFill>
          <a:ln w="12700">
            <a:solidFill>
              <a:schemeClr val="accent4">
                <a:alpha val="65000"/>
              </a:scheme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20179" y="1723644"/>
            <a:ext cx="1589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Tailwind CSS 4</a:t>
            </a:r>
            <a:endParaRPr lang="en-US" sz="1400" dirty="0"/>
          </a:p>
        </p:txBody>
      </p:sp>
      <p:sp>
        <p:nvSpPr>
          <p:cNvPr id="19" name="Chip jsPDF"/>
          <p:cNvSpPr/>
          <p:nvPr/>
        </p:nvSpPr>
        <p:spPr>
          <a:xfrm>
            <a:off x="8619134" y="1723644"/>
            <a:ext cx="832104" cy="411480"/>
          </a:xfrm>
          <a:prstGeom prst="roundRect">
            <a:avLst>
              <a:gd name="adj" fmla="val 48889"/>
            </a:avLst>
          </a:prstGeom>
          <a:solidFill>
            <a:schemeClr val="accent4">
              <a:alpha val="22000"/>
            </a:schemeClr>
          </a:solidFill>
          <a:ln w="12700">
            <a:solidFill>
              <a:schemeClr val="accent4">
                <a:alpha val="65000"/>
              </a:scheme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19134" y="1723644"/>
            <a:ext cx="83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jsPDF</a:t>
            </a:r>
            <a:endParaRPr lang="en-US" sz="1400" dirty="0"/>
          </a:p>
        </p:txBody>
      </p:sp>
      <p:sp>
        <p:nvSpPr>
          <p:cNvPr id="21" name="Stack label Backend &amp; APIs"/>
          <p:cNvSpPr/>
          <p:nvPr/>
        </p:nvSpPr>
        <p:spPr>
          <a:xfrm>
            <a:off x="548640" y="2386584"/>
            <a:ext cx="25146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2" name="Stack Backend &amp; APIs circle"/>
          <p:cNvSpPr/>
          <p:nvPr/>
        </p:nvSpPr>
        <p:spPr>
          <a:xfrm>
            <a:off x="685800" y="24871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1" descr="Stack Backend &amp; API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2610612"/>
            <a:ext cx="210312" cy="21031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280160" y="238658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Backend &amp; APIs</a:t>
            </a:r>
            <a:endParaRPr lang="en-US" sz="1600" dirty="0"/>
          </a:p>
        </p:txBody>
      </p:sp>
      <p:sp>
        <p:nvSpPr>
          <p:cNvPr id="25" name="Chip FastAPI"/>
          <p:cNvSpPr/>
          <p:nvPr/>
        </p:nvSpPr>
        <p:spPr>
          <a:xfrm>
            <a:off x="3337560" y="2510028"/>
            <a:ext cx="1000354" cy="411480"/>
          </a:xfrm>
          <a:prstGeom prst="roundRect">
            <a:avLst>
              <a:gd name="adj" fmla="val 48889"/>
            </a:avLst>
          </a:prstGeom>
          <a:solidFill>
            <a:schemeClr val="accent1">
              <a:alpha val="22000"/>
            </a:schemeClr>
          </a:solidFill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337560" y="2510028"/>
            <a:ext cx="10003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FastAPI</a:t>
            </a:r>
            <a:endParaRPr lang="en-US" sz="1400" dirty="0"/>
          </a:p>
        </p:txBody>
      </p:sp>
      <p:sp>
        <p:nvSpPr>
          <p:cNvPr id="27" name="Chip Pydantic"/>
          <p:cNvSpPr/>
          <p:nvPr/>
        </p:nvSpPr>
        <p:spPr>
          <a:xfrm>
            <a:off x="4447642" y="2510028"/>
            <a:ext cx="1084478" cy="411480"/>
          </a:xfrm>
          <a:prstGeom prst="roundRect">
            <a:avLst>
              <a:gd name="adj" fmla="val 48889"/>
            </a:avLst>
          </a:prstGeom>
          <a:solidFill>
            <a:schemeClr val="accent1">
              <a:alpha val="22000"/>
            </a:schemeClr>
          </a:solidFill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447642" y="2510028"/>
            <a:ext cx="10844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Pydantic</a:t>
            </a:r>
            <a:endParaRPr lang="en-US" sz="1400" dirty="0"/>
          </a:p>
        </p:txBody>
      </p:sp>
      <p:sp>
        <p:nvSpPr>
          <p:cNvPr id="29" name="Chip JWT"/>
          <p:cNvSpPr/>
          <p:nvPr/>
        </p:nvSpPr>
        <p:spPr>
          <a:xfrm>
            <a:off x="5641848" y="2510028"/>
            <a:ext cx="663854" cy="411480"/>
          </a:xfrm>
          <a:prstGeom prst="roundRect">
            <a:avLst>
              <a:gd name="adj" fmla="val 48889"/>
            </a:avLst>
          </a:prstGeom>
          <a:solidFill>
            <a:schemeClr val="accent1">
              <a:alpha val="22000"/>
            </a:schemeClr>
          </a:solidFill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641848" y="2510028"/>
            <a:ext cx="663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JWT</a:t>
            </a:r>
            <a:endParaRPr lang="en-US" sz="1400" dirty="0"/>
          </a:p>
        </p:txBody>
      </p:sp>
      <p:sp>
        <p:nvSpPr>
          <p:cNvPr id="31" name="Chip OAuth2"/>
          <p:cNvSpPr/>
          <p:nvPr/>
        </p:nvSpPr>
        <p:spPr>
          <a:xfrm>
            <a:off x="6415430" y="2510028"/>
            <a:ext cx="916229" cy="411480"/>
          </a:xfrm>
          <a:prstGeom prst="roundRect">
            <a:avLst>
              <a:gd name="adj" fmla="val 48889"/>
            </a:avLst>
          </a:prstGeom>
          <a:solidFill>
            <a:schemeClr val="accent1">
              <a:alpha val="22000"/>
            </a:schemeClr>
          </a:solidFill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415430" y="2510028"/>
            <a:ext cx="9162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OAuth2</a:t>
            </a:r>
            <a:endParaRPr lang="en-US" sz="1400" dirty="0"/>
          </a:p>
        </p:txBody>
      </p:sp>
      <p:sp>
        <p:nvSpPr>
          <p:cNvPr id="33" name="Chip bcrypt"/>
          <p:cNvSpPr/>
          <p:nvPr/>
        </p:nvSpPr>
        <p:spPr>
          <a:xfrm>
            <a:off x="7441387" y="2510028"/>
            <a:ext cx="916229" cy="411480"/>
          </a:xfrm>
          <a:prstGeom prst="roundRect">
            <a:avLst>
              <a:gd name="adj" fmla="val 48889"/>
            </a:avLst>
          </a:prstGeom>
          <a:solidFill>
            <a:schemeClr val="accent1">
              <a:alpha val="22000"/>
            </a:schemeClr>
          </a:solidFill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441387" y="2510028"/>
            <a:ext cx="9162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bcrypt</a:t>
            </a:r>
            <a:endParaRPr lang="en-US" sz="1400" dirty="0"/>
          </a:p>
        </p:txBody>
      </p:sp>
      <p:sp>
        <p:nvSpPr>
          <p:cNvPr id="35" name="Stack label Database"/>
          <p:cNvSpPr/>
          <p:nvPr/>
        </p:nvSpPr>
        <p:spPr>
          <a:xfrm>
            <a:off x="548640" y="3172968"/>
            <a:ext cx="25146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36" name="Stack Database circle"/>
          <p:cNvSpPr/>
          <p:nvPr/>
        </p:nvSpPr>
        <p:spPr>
          <a:xfrm>
            <a:off x="685800" y="327355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7" name="Image 2" descr="Stack Databa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396996"/>
            <a:ext cx="210312" cy="210312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1280160" y="31729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Database</a:t>
            </a:r>
            <a:endParaRPr lang="en-US" sz="1600" dirty="0"/>
          </a:p>
        </p:txBody>
      </p:sp>
      <p:sp>
        <p:nvSpPr>
          <p:cNvPr id="39" name="Chip SQLAlchemy"/>
          <p:cNvSpPr/>
          <p:nvPr/>
        </p:nvSpPr>
        <p:spPr>
          <a:xfrm>
            <a:off x="3337560" y="3296412"/>
            <a:ext cx="1252728" cy="411480"/>
          </a:xfrm>
          <a:prstGeom prst="roundRect">
            <a:avLst>
              <a:gd name="adj" fmla="val 4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337560" y="3296412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SQLAlchemy</a:t>
            </a:r>
            <a:endParaRPr lang="en-US" sz="1400" dirty="0"/>
          </a:p>
        </p:txBody>
      </p:sp>
      <p:sp>
        <p:nvSpPr>
          <p:cNvPr id="41" name="Chip SQLite (dev)"/>
          <p:cNvSpPr/>
          <p:nvPr/>
        </p:nvSpPr>
        <p:spPr>
          <a:xfrm>
            <a:off x="4700016" y="3296412"/>
            <a:ext cx="1420978" cy="411480"/>
          </a:xfrm>
          <a:prstGeom prst="roundRect">
            <a:avLst>
              <a:gd name="adj" fmla="val 4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4700016" y="3296412"/>
            <a:ext cx="1420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SQLite (dev)</a:t>
            </a:r>
            <a:endParaRPr lang="en-US" sz="1400" dirty="0"/>
          </a:p>
        </p:txBody>
      </p:sp>
      <p:sp>
        <p:nvSpPr>
          <p:cNvPr id="43" name="Chip PostgreSQL"/>
          <p:cNvSpPr/>
          <p:nvPr/>
        </p:nvSpPr>
        <p:spPr>
          <a:xfrm>
            <a:off x="6230722" y="3296412"/>
            <a:ext cx="1252728" cy="411480"/>
          </a:xfrm>
          <a:prstGeom prst="roundRect">
            <a:avLst>
              <a:gd name="adj" fmla="val 4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6230722" y="3296412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45" name="Chip pgvector"/>
          <p:cNvSpPr/>
          <p:nvPr/>
        </p:nvSpPr>
        <p:spPr>
          <a:xfrm>
            <a:off x="7593178" y="3296412"/>
            <a:ext cx="1084478" cy="411480"/>
          </a:xfrm>
          <a:prstGeom prst="roundRect">
            <a:avLst>
              <a:gd name="adj" fmla="val 48889"/>
            </a:avLst>
          </a:prstGeom>
          <a:solidFill>
            <a:schemeClr val="accent3">
              <a:alpha val="6000"/>
            </a:schemeClr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46" name="Text 41"/>
          <p:cNvSpPr txBox="1"/>
          <p:nvPr/>
        </p:nvSpPr>
        <p:spPr>
          <a:xfrm>
            <a:off x="7593178" y="3296412"/>
            <a:ext cx="10844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pgvector</a:t>
            </a:r>
            <a:endParaRPr lang="en-US" sz="1400" dirty="0"/>
          </a:p>
        </p:txBody>
      </p:sp>
      <p:sp>
        <p:nvSpPr>
          <p:cNvPr id="47" name="Chip MongoDB"/>
          <p:cNvSpPr/>
          <p:nvPr/>
        </p:nvSpPr>
        <p:spPr>
          <a:xfrm>
            <a:off x="8787384" y="3296412"/>
            <a:ext cx="1000354" cy="411480"/>
          </a:xfrm>
          <a:prstGeom prst="roundRect">
            <a:avLst>
              <a:gd name="adj" fmla="val 48889"/>
            </a:avLst>
          </a:prstGeom>
          <a:solidFill>
            <a:schemeClr val="accent3">
              <a:alpha val="6000"/>
            </a:schemeClr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48" name="Text 43"/>
          <p:cNvSpPr txBox="1"/>
          <p:nvPr/>
        </p:nvSpPr>
        <p:spPr>
          <a:xfrm>
            <a:off x="8787384" y="3296412"/>
            <a:ext cx="10003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MongoDB</a:t>
            </a:r>
            <a:endParaRPr lang="en-US" sz="1400" dirty="0"/>
          </a:p>
        </p:txBody>
      </p:sp>
      <p:sp>
        <p:nvSpPr>
          <p:cNvPr id="49" name="Chip Motor ORM"/>
          <p:cNvSpPr/>
          <p:nvPr/>
        </p:nvSpPr>
        <p:spPr>
          <a:xfrm>
            <a:off x="9897466" y="3296412"/>
            <a:ext cx="1168603" cy="411480"/>
          </a:xfrm>
          <a:prstGeom prst="roundRect">
            <a:avLst>
              <a:gd name="adj" fmla="val 48889"/>
            </a:avLst>
          </a:prstGeom>
          <a:solidFill>
            <a:schemeClr val="accent3">
              <a:alpha val="6000"/>
            </a:schemeClr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50" name="Text 45"/>
          <p:cNvSpPr txBox="1"/>
          <p:nvPr/>
        </p:nvSpPr>
        <p:spPr>
          <a:xfrm>
            <a:off x="9897466" y="3296412"/>
            <a:ext cx="11686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Motor ORM</a:t>
            </a:r>
            <a:endParaRPr lang="en-US" sz="1400" dirty="0"/>
          </a:p>
        </p:txBody>
      </p:sp>
      <p:sp>
        <p:nvSpPr>
          <p:cNvPr id="51" name="Stack label AI / NLP"/>
          <p:cNvSpPr/>
          <p:nvPr/>
        </p:nvSpPr>
        <p:spPr>
          <a:xfrm>
            <a:off x="548640" y="3959352"/>
            <a:ext cx="25146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52" name="Stack AI / NLP circle"/>
          <p:cNvSpPr/>
          <p:nvPr/>
        </p:nvSpPr>
        <p:spPr>
          <a:xfrm>
            <a:off x="685800" y="405993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3" name="Image 3" descr="Stack AI / NL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4183380"/>
            <a:ext cx="210312" cy="210312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1280160" y="395935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/ NLP</a:t>
            </a:r>
            <a:endParaRPr lang="en-US" sz="1600" dirty="0"/>
          </a:p>
        </p:txBody>
      </p:sp>
      <p:sp>
        <p:nvSpPr>
          <p:cNvPr id="55" name="Chip Rule-based parser"/>
          <p:cNvSpPr/>
          <p:nvPr/>
        </p:nvSpPr>
        <p:spPr>
          <a:xfrm>
            <a:off x="3337560" y="4082796"/>
            <a:ext cx="1841602" cy="411480"/>
          </a:xfrm>
          <a:prstGeom prst="roundRect">
            <a:avLst>
              <a:gd name="adj" fmla="val 48889"/>
            </a:avLst>
          </a:prstGeom>
          <a:solidFill>
            <a:schemeClr val="accent6">
              <a:alpha val="22000"/>
            </a:schemeClr>
          </a:solidFill>
          <a:ln w="12700">
            <a:solidFill>
              <a:schemeClr val="accent6">
                <a:alpha val="65000"/>
              </a:schemeClr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3337560" y="4082796"/>
            <a:ext cx="18416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Rule-based parser</a:t>
            </a:r>
            <a:endParaRPr lang="en-US" sz="1400" dirty="0"/>
          </a:p>
        </p:txBody>
      </p:sp>
      <p:sp>
        <p:nvSpPr>
          <p:cNvPr id="57" name="Chip pypdf, python-docx"/>
          <p:cNvSpPr/>
          <p:nvPr/>
        </p:nvSpPr>
        <p:spPr>
          <a:xfrm>
            <a:off x="5288890" y="4082796"/>
            <a:ext cx="1925726" cy="411480"/>
          </a:xfrm>
          <a:prstGeom prst="roundRect">
            <a:avLst>
              <a:gd name="adj" fmla="val 48889"/>
            </a:avLst>
          </a:prstGeom>
          <a:solidFill>
            <a:schemeClr val="accent6">
              <a:alpha val="22000"/>
            </a:schemeClr>
          </a:solidFill>
          <a:ln w="12700">
            <a:solidFill>
              <a:schemeClr val="accent6">
                <a:alpha val="65000"/>
              </a:schemeClr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5288890" y="4082796"/>
            <a:ext cx="1925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pypdf, python-docx</a:t>
            </a:r>
            <a:endParaRPr lang="en-US" sz="1400" dirty="0"/>
          </a:p>
        </p:txBody>
      </p:sp>
      <p:sp>
        <p:nvSpPr>
          <p:cNvPr id="59" name="Chip Python NLP service"/>
          <p:cNvSpPr/>
          <p:nvPr/>
        </p:nvSpPr>
        <p:spPr>
          <a:xfrm>
            <a:off x="7324344" y="4082796"/>
            <a:ext cx="1925726" cy="411480"/>
          </a:xfrm>
          <a:prstGeom prst="roundRect">
            <a:avLst>
              <a:gd name="adj" fmla="val 48889"/>
            </a:avLst>
          </a:prstGeom>
          <a:solidFill>
            <a:schemeClr val="accent6">
              <a:alpha val="6000"/>
            </a:schemeClr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60" name="Text 54"/>
          <p:cNvSpPr txBox="1"/>
          <p:nvPr/>
        </p:nvSpPr>
        <p:spPr>
          <a:xfrm>
            <a:off x="7324344" y="4082796"/>
            <a:ext cx="1925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Python NLP service</a:t>
            </a:r>
            <a:endParaRPr lang="en-US" sz="1400" dirty="0"/>
          </a:p>
        </p:txBody>
      </p:sp>
      <p:sp>
        <p:nvSpPr>
          <p:cNvPr id="61" name="Chip HNSW / ANN vectors"/>
          <p:cNvSpPr/>
          <p:nvPr/>
        </p:nvSpPr>
        <p:spPr>
          <a:xfrm>
            <a:off x="9359798" y="4082796"/>
            <a:ext cx="1925726" cy="411480"/>
          </a:xfrm>
          <a:prstGeom prst="roundRect">
            <a:avLst>
              <a:gd name="adj" fmla="val 48889"/>
            </a:avLst>
          </a:prstGeom>
          <a:solidFill>
            <a:schemeClr val="accent6">
              <a:alpha val="6000"/>
            </a:schemeClr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62" name="Text 56"/>
          <p:cNvSpPr txBox="1"/>
          <p:nvPr/>
        </p:nvSpPr>
        <p:spPr>
          <a:xfrm>
            <a:off x="9359798" y="4082796"/>
            <a:ext cx="1925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HNSW / ANN vectors</a:t>
            </a:r>
            <a:endParaRPr lang="en-US" sz="1400" dirty="0"/>
          </a:p>
        </p:txBody>
      </p:sp>
      <p:sp>
        <p:nvSpPr>
          <p:cNvPr id="63" name="Stack label Search &amp; Discovery"/>
          <p:cNvSpPr/>
          <p:nvPr/>
        </p:nvSpPr>
        <p:spPr>
          <a:xfrm>
            <a:off x="548640" y="4745736"/>
            <a:ext cx="25146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64" name="Stack Search &amp; Discovery circle"/>
          <p:cNvSpPr/>
          <p:nvPr/>
        </p:nvSpPr>
        <p:spPr>
          <a:xfrm>
            <a:off x="685800" y="484632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5" name="Image 4" descr="Stack Search &amp; Discovery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4969764"/>
            <a:ext cx="210312" cy="210312"/>
          </a:xfrm>
          <a:prstGeom prst="rect">
            <a:avLst/>
          </a:prstGeom>
        </p:spPr>
      </p:pic>
      <p:sp>
        <p:nvSpPr>
          <p:cNvPr id="66" name="Text 59"/>
          <p:cNvSpPr txBox="1"/>
          <p:nvPr/>
        </p:nvSpPr>
        <p:spPr>
          <a:xfrm>
            <a:off x="1280160" y="474573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Search &amp; Discovery</a:t>
            </a:r>
            <a:endParaRPr lang="en-US" sz="1600" dirty="0"/>
          </a:p>
        </p:txBody>
      </p:sp>
      <p:sp>
        <p:nvSpPr>
          <p:cNvPr id="67" name="Chip Filtered job search"/>
          <p:cNvSpPr/>
          <p:nvPr/>
        </p:nvSpPr>
        <p:spPr>
          <a:xfrm>
            <a:off x="3337560" y="4869180"/>
            <a:ext cx="2009851" cy="411480"/>
          </a:xfrm>
          <a:prstGeom prst="roundRect">
            <a:avLst>
              <a:gd name="adj" fmla="val 48889"/>
            </a:avLst>
          </a:prstGeom>
          <a:solidFill>
            <a:schemeClr val="accent5">
              <a:alpha val="22000"/>
            </a:schemeClr>
          </a:solidFill>
          <a:ln w="12700">
            <a:solidFill>
              <a:schemeClr val="accent5">
                <a:alpha val="65000"/>
              </a:schemeClr>
            </a:solidFill>
            <a:prstDash val="solid"/>
          </a:ln>
        </p:spPr>
      </p:sp>
      <p:sp>
        <p:nvSpPr>
          <p:cNvPr id="68" name="Text 61"/>
          <p:cNvSpPr txBox="1"/>
          <p:nvPr/>
        </p:nvSpPr>
        <p:spPr>
          <a:xfrm>
            <a:off x="3337560" y="4869180"/>
            <a:ext cx="20098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Filtered job search</a:t>
            </a:r>
            <a:endParaRPr lang="en-US" sz="1400" dirty="0"/>
          </a:p>
        </p:txBody>
      </p:sp>
      <p:sp>
        <p:nvSpPr>
          <p:cNvPr id="69" name="Chip Elasticsearch"/>
          <p:cNvSpPr/>
          <p:nvPr/>
        </p:nvSpPr>
        <p:spPr>
          <a:xfrm>
            <a:off x="5457139" y="4869180"/>
            <a:ext cx="1505102" cy="411480"/>
          </a:xfrm>
          <a:prstGeom prst="roundRect">
            <a:avLst>
              <a:gd name="adj" fmla="val 48889"/>
            </a:avLst>
          </a:prstGeom>
          <a:solidFill>
            <a:schemeClr val="accent5">
              <a:alpha val="6000"/>
            </a:schemeClr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70" name="Text 63"/>
          <p:cNvSpPr txBox="1"/>
          <p:nvPr/>
        </p:nvSpPr>
        <p:spPr>
          <a:xfrm>
            <a:off x="5457139" y="4869180"/>
            <a:ext cx="15051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Elasticsearch</a:t>
            </a:r>
            <a:endParaRPr lang="en-US" sz="1400" dirty="0"/>
          </a:p>
        </p:txBody>
      </p:sp>
      <p:sp>
        <p:nvSpPr>
          <p:cNvPr id="71" name="Chip Redis cache"/>
          <p:cNvSpPr/>
          <p:nvPr/>
        </p:nvSpPr>
        <p:spPr>
          <a:xfrm>
            <a:off x="7071970" y="4869180"/>
            <a:ext cx="1336853" cy="411480"/>
          </a:xfrm>
          <a:prstGeom prst="roundRect">
            <a:avLst>
              <a:gd name="adj" fmla="val 48889"/>
            </a:avLst>
          </a:prstGeom>
          <a:solidFill>
            <a:schemeClr val="accent5">
              <a:alpha val="6000"/>
            </a:schemeClr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72" name="Text 65"/>
          <p:cNvSpPr txBox="1"/>
          <p:nvPr/>
        </p:nvSpPr>
        <p:spPr>
          <a:xfrm>
            <a:off x="7071970" y="4869180"/>
            <a:ext cx="13368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Redis cache</a:t>
            </a:r>
            <a:endParaRPr lang="en-US" sz="1400" dirty="0"/>
          </a:p>
        </p:txBody>
      </p:sp>
      <p:sp>
        <p:nvSpPr>
          <p:cNvPr id="73" name="Stack label DevOps &amp; QA"/>
          <p:cNvSpPr/>
          <p:nvPr/>
        </p:nvSpPr>
        <p:spPr>
          <a:xfrm>
            <a:off x="548640" y="5532120"/>
            <a:ext cx="25146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74" name="Stack DevOps &amp; QA circle"/>
          <p:cNvSpPr/>
          <p:nvPr/>
        </p:nvSpPr>
        <p:spPr>
          <a:xfrm>
            <a:off x="685800" y="563270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5" name="Image 5" descr="Stack DevOps &amp; QA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" y="5756148"/>
            <a:ext cx="210312" cy="210312"/>
          </a:xfrm>
          <a:prstGeom prst="rect">
            <a:avLst/>
          </a:prstGeom>
        </p:spPr>
      </p:pic>
      <p:sp>
        <p:nvSpPr>
          <p:cNvPr id="76" name="Text 68"/>
          <p:cNvSpPr txBox="1"/>
          <p:nvPr/>
        </p:nvSpPr>
        <p:spPr>
          <a:xfrm>
            <a:off x="1280160" y="55321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DevOps &amp; QA</a:t>
            </a:r>
            <a:endParaRPr lang="en-US" sz="1600" dirty="0"/>
          </a:p>
        </p:txBody>
      </p:sp>
      <p:sp>
        <p:nvSpPr>
          <p:cNvPr id="77" name="Chip Docker Compose"/>
          <p:cNvSpPr/>
          <p:nvPr/>
        </p:nvSpPr>
        <p:spPr>
          <a:xfrm>
            <a:off x="3337560" y="5655564"/>
            <a:ext cx="1589227" cy="411480"/>
          </a:xfrm>
          <a:prstGeom prst="roundRect">
            <a:avLst>
              <a:gd name="adj" fmla="val 48889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78" name="Text 70"/>
          <p:cNvSpPr txBox="1"/>
          <p:nvPr/>
        </p:nvSpPr>
        <p:spPr>
          <a:xfrm>
            <a:off x="3337560" y="5655564"/>
            <a:ext cx="1589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 Compose</a:t>
            </a:r>
            <a:endParaRPr lang="en-US" sz="1400" dirty="0"/>
          </a:p>
        </p:txBody>
      </p:sp>
      <p:sp>
        <p:nvSpPr>
          <p:cNvPr id="79" name="Chip Pytest + httpx"/>
          <p:cNvSpPr/>
          <p:nvPr/>
        </p:nvSpPr>
        <p:spPr>
          <a:xfrm>
            <a:off x="5036515" y="5655564"/>
            <a:ext cx="1589227" cy="411480"/>
          </a:xfrm>
          <a:prstGeom prst="roundRect">
            <a:avLst>
              <a:gd name="adj" fmla="val 48889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80" name="Text 72"/>
          <p:cNvSpPr txBox="1"/>
          <p:nvPr/>
        </p:nvSpPr>
        <p:spPr>
          <a:xfrm>
            <a:off x="5036515" y="5655564"/>
            <a:ext cx="1589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Pytest + httpx</a:t>
            </a:r>
            <a:endParaRPr lang="en-US" sz="1400" dirty="0"/>
          </a:p>
        </p:txBody>
      </p:sp>
      <p:sp>
        <p:nvSpPr>
          <p:cNvPr id="81" name="Chip Postman"/>
          <p:cNvSpPr/>
          <p:nvPr/>
        </p:nvSpPr>
        <p:spPr>
          <a:xfrm>
            <a:off x="6735470" y="5655564"/>
            <a:ext cx="1000354" cy="411480"/>
          </a:xfrm>
          <a:prstGeom prst="roundRect">
            <a:avLst>
              <a:gd name="adj" fmla="val 48889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82" name="Text 74"/>
          <p:cNvSpPr txBox="1"/>
          <p:nvPr/>
        </p:nvSpPr>
        <p:spPr>
          <a:xfrm>
            <a:off x="6735470" y="5655564"/>
            <a:ext cx="10003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Postman</a:t>
            </a:r>
            <a:endParaRPr lang="en-US" sz="1400" dirty="0"/>
          </a:p>
        </p:txBody>
      </p:sp>
      <p:sp>
        <p:nvSpPr>
          <p:cNvPr id="83" name="Chip GitHub Actions"/>
          <p:cNvSpPr/>
          <p:nvPr/>
        </p:nvSpPr>
        <p:spPr>
          <a:xfrm>
            <a:off x="7845552" y="5655564"/>
            <a:ext cx="1589227" cy="411480"/>
          </a:xfrm>
          <a:prstGeom prst="roundRect">
            <a:avLst>
              <a:gd name="adj" fmla="val 48889"/>
            </a:avLst>
          </a:prstGeom>
          <a:solidFill>
            <a:schemeClr val="accent2">
              <a:alpha val="6000"/>
            </a:schemeClr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84" name="Text 76"/>
          <p:cNvSpPr txBox="1"/>
          <p:nvPr/>
        </p:nvSpPr>
        <p:spPr>
          <a:xfrm>
            <a:off x="7845552" y="5655564"/>
            <a:ext cx="1589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GitHub Actions</a:t>
            </a:r>
            <a:endParaRPr lang="en-US" sz="1400" dirty="0"/>
          </a:p>
        </p:txBody>
      </p:sp>
      <p:sp>
        <p:nvSpPr>
          <p:cNvPr id="85" name="Chip Prometheus / Grafana"/>
          <p:cNvSpPr/>
          <p:nvPr/>
        </p:nvSpPr>
        <p:spPr>
          <a:xfrm>
            <a:off x="9544507" y="5655564"/>
            <a:ext cx="2093976" cy="411480"/>
          </a:xfrm>
          <a:prstGeom prst="roundRect">
            <a:avLst>
              <a:gd name="adj" fmla="val 48889"/>
            </a:avLst>
          </a:prstGeom>
          <a:solidFill>
            <a:schemeClr val="accent2">
              <a:alpha val="6000"/>
            </a:schemeClr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86" name="Text 78"/>
          <p:cNvSpPr txBox="1"/>
          <p:nvPr/>
        </p:nvSpPr>
        <p:spPr>
          <a:xfrm>
            <a:off x="9544507" y="5655564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Prometheus / Grafana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Relational schema in 3NF</a:t>
            </a:r>
            <a:endParaRPr lang="en-US" sz="3600" dirty="0"/>
          </a:p>
        </p:txBody>
      </p:sp>
      <p:sp>
        <p:nvSpPr>
          <p:cNvPr id="3" name="Group Identity"/>
          <p:cNvSpPr/>
          <p:nvPr/>
        </p:nvSpPr>
        <p:spPr>
          <a:xfrm>
            <a:off x="548640" y="1508760"/>
            <a:ext cx="7223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Identity</a:t>
            </a:r>
            <a:endParaRPr lang="en-US" sz="1800" dirty="0"/>
          </a:p>
        </p:txBody>
      </p:sp>
      <p:sp>
        <p:nvSpPr>
          <p:cNvPr id="5" name="Table users"/>
          <p:cNvSpPr/>
          <p:nvPr/>
        </p:nvSpPr>
        <p:spPr>
          <a:xfrm>
            <a:off x="2560320" y="1988820"/>
            <a:ext cx="832104" cy="411480"/>
          </a:xfrm>
          <a:prstGeom prst="roundRect">
            <a:avLst>
              <a:gd name="adj" fmla="val 48889"/>
            </a:avLst>
          </a:prstGeom>
          <a:solidFill>
            <a:schemeClr val="accent4">
              <a:alpha val="22000"/>
            </a:schemeClr>
          </a:solidFill>
          <a:ln w="12700">
            <a:solidFill>
              <a:schemeClr val="accent4">
                <a:alpha val="65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1988820"/>
            <a:ext cx="83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users</a:t>
            </a:r>
            <a:endParaRPr lang="en-US" sz="1400" dirty="0"/>
          </a:p>
        </p:txBody>
      </p:sp>
      <p:sp>
        <p:nvSpPr>
          <p:cNvPr id="7" name="Table profiles"/>
          <p:cNvSpPr/>
          <p:nvPr/>
        </p:nvSpPr>
        <p:spPr>
          <a:xfrm>
            <a:off x="3529584" y="1988820"/>
            <a:ext cx="1084478" cy="411480"/>
          </a:xfrm>
          <a:prstGeom prst="roundRect">
            <a:avLst>
              <a:gd name="adj" fmla="val 48889"/>
            </a:avLst>
          </a:prstGeom>
          <a:solidFill>
            <a:schemeClr val="accent4">
              <a:alpha val="22000"/>
            </a:schemeClr>
          </a:solidFill>
          <a:ln w="12700">
            <a:solidFill>
              <a:schemeClr val="accent4">
                <a:alpha val="65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9584" y="1988820"/>
            <a:ext cx="10844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profiles</a:t>
            </a:r>
            <a:endParaRPr lang="en-US" sz="1400" dirty="0"/>
          </a:p>
        </p:txBody>
      </p:sp>
      <p:sp>
        <p:nvSpPr>
          <p:cNvPr id="9" name="Table companies"/>
          <p:cNvSpPr/>
          <p:nvPr/>
        </p:nvSpPr>
        <p:spPr>
          <a:xfrm>
            <a:off x="4751222" y="1988820"/>
            <a:ext cx="1168603" cy="411480"/>
          </a:xfrm>
          <a:prstGeom prst="roundRect">
            <a:avLst>
              <a:gd name="adj" fmla="val 48889"/>
            </a:avLst>
          </a:prstGeom>
          <a:solidFill>
            <a:schemeClr val="accent4">
              <a:alpha val="22000"/>
            </a:schemeClr>
          </a:solidFill>
          <a:ln w="12700">
            <a:solidFill>
              <a:schemeClr val="accent4">
                <a:alpha val="65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1222" y="1988820"/>
            <a:ext cx="11686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companies</a:t>
            </a:r>
            <a:endParaRPr lang="en-US" sz="1400" dirty="0"/>
          </a:p>
        </p:txBody>
      </p:sp>
      <p:sp>
        <p:nvSpPr>
          <p:cNvPr id="11" name="Group Candidate data"/>
          <p:cNvSpPr/>
          <p:nvPr/>
        </p:nvSpPr>
        <p:spPr>
          <a:xfrm>
            <a:off x="548640" y="3063240"/>
            <a:ext cx="7223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0632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Candidate data</a:t>
            </a:r>
            <a:endParaRPr lang="en-US" sz="1800" dirty="0"/>
          </a:p>
        </p:txBody>
      </p:sp>
      <p:sp>
        <p:nvSpPr>
          <p:cNvPr id="13" name="Table education"/>
          <p:cNvSpPr/>
          <p:nvPr/>
        </p:nvSpPr>
        <p:spPr>
          <a:xfrm>
            <a:off x="2560320" y="3259836"/>
            <a:ext cx="1168603" cy="411480"/>
          </a:xfrm>
          <a:prstGeom prst="roundRect">
            <a:avLst>
              <a:gd name="adj" fmla="val 48889"/>
            </a:avLst>
          </a:prstGeom>
          <a:solidFill>
            <a:schemeClr val="accent1">
              <a:alpha val="22000"/>
            </a:schemeClr>
          </a:solidFill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0" y="3259836"/>
            <a:ext cx="11686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education</a:t>
            </a:r>
            <a:endParaRPr lang="en-US" sz="1400" dirty="0"/>
          </a:p>
        </p:txBody>
      </p:sp>
      <p:sp>
        <p:nvSpPr>
          <p:cNvPr id="15" name="Table work_history"/>
          <p:cNvSpPr/>
          <p:nvPr/>
        </p:nvSpPr>
        <p:spPr>
          <a:xfrm>
            <a:off x="3866083" y="3259836"/>
            <a:ext cx="1420978" cy="411480"/>
          </a:xfrm>
          <a:prstGeom prst="roundRect">
            <a:avLst>
              <a:gd name="adj" fmla="val 48889"/>
            </a:avLst>
          </a:prstGeom>
          <a:solidFill>
            <a:schemeClr val="accent1">
              <a:alpha val="22000"/>
            </a:schemeClr>
          </a:solidFill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66083" y="3259836"/>
            <a:ext cx="1420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work_history</a:t>
            </a:r>
            <a:endParaRPr lang="en-US" sz="1400" dirty="0"/>
          </a:p>
        </p:txBody>
      </p:sp>
      <p:sp>
        <p:nvSpPr>
          <p:cNvPr id="17" name="Table certifications"/>
          <p:cNvSpPr/>
          <p:nvPr/>
        </p:nvSpPr>
        <p:spPr>
          <a:xfrm>
            <a:off x="5424221" y="3259836"/>
            <a:ext cx="1589227" cy="411480"/>
          </a:xfrm>
          <a:prstGeom prst="roundRect">
            <a:avLst>
              <a:gd name="adj" fmla="val 48889"/>
            </a:avLst>
          </a:prstGeom>
          <a:solidFill>
            <a:schemeClr val="accent1">
              <a:alpha val="22000"/>
            </a:schemeClr>
          </a:solidFill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24221" y="3259836"/>
            <a:ext cx="1589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certifications</a:t>
            </a:r>
            <a:endParaRPr lang="en-US" sz="1400" dirty="0"/>
          </a:p>
        </p:txBody>
      </p:sp>
      <p:sp>
        <p:nvSpPr>
          <p:cNvPr id="19" name="Table resumes"/>
          <p:cNvSpPr/>
          <p:nvPr/>
        </p:nvSpPr>
        <p:spPr>
          <a:xfrm>
            <a:off x="2560320" y="3826764"/>
            <a:ext cx="1000354" cy="411480"/>
          </a:xfrm>
          <a:prstGeom prst="roundRect">
            <a:avLst>
              <a:gd name="adj" fmla="val 48889"/>
            </a:avLst>
          </a:prstGeom>
          <a:solidFill>
            <a:schemeClr val="accent1">
              <a:alpha val="22000"/>
            </a:schemeClr>
          </a:solidFill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60320" y="3826764"/>
            <a:ext cx="10003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resumes</a:t>
            </a:r>
            <a:endParaRPr lang="en-US" sz="1400" dirty="0"/>
          </a:p>
        </p:txBody>
      </p:sp>
      <p:sp>
        <p:nvSpPr>
          <p:cNvPr id="21" name="Table candidate_skills"/>
          <p:cNvSpPr/>
          <p:nvPr/>
        </p:nvSpPr>
        <p:spPr>
          <a:xfrm>
            <a:off x="3697834" y="3826764"/>
            <a:ext cx="1757477" cy="411480"/>
          </a:xfrm>
          <a:prstGeom prst="roundRect">
            <a:avLst>
              <a:gd name="adj" fmla="val 48889"/>
            </a:avLst>
          </a:prstGeom>
          <a:solidFill>
            <a:schemeClr val="accent1">
              <a:alpha val="22000"/>
            </a:schemeClr>
          </a:solidFill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97834" y="3826764"/>
            <a:ext cx="17574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candidate_skills</a:t>
            </a:r>
            <a:endParaRPr lang="en-US" sz="1400" dirty="0"/>
          </a:p>
        </p:txBody>
      </p:sp>
      <p:sp>
        <p:nvSpPr>
          <p:cNvPr id="23" name="Group Hiring"/>
          <p:cNvSpPr/>
          <p:nvPr/>
        </p:nvSpPr>
        <p:spPr>
          <a:xfrm>
            <a:off x="548640" y="4617720"/>
            <a:ext cx="7223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6177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Hiring</a:t>
            </a:r>
            <a:endParaRPr lang="en-US" sz="1800" dirty="0"/>
          </a:p>
        </p:txBody>
      </p:sp>
      <p:sp>
        <p:nvSpPr>
          <p:cNvPr id="25" name="Table jobs"/>
          <p:cNvSpPr/>
          <p:nvPr/>
        </p:nvSpPr>
        <p:spPr>
          <a:xfrm>
            <a:off x="2560320" y="5097780"/>
            <a:ext cx="747979" cy="411480"/>
          </a:xfrm>
          <a:prstGeom prst="roundRect">
            <a:avLst>
              <a:gd name="adj" fmla="val 4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60320" y="5097780"/>
            <a:ext cx="7479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jobs</a:t>
            </a:r>
            <a:endParaRPr lang="en-US" sz="1400" dirty="0"/>
          </a:p>
        </p:txBody>
      </p:sp>
      <p:sp>
        <p:nvSpPr>
          <p:cNvPr id="27" name="Table skills"/>
          <p:cNvSpPr/>
          <p:nvPr/>
        </p:nvSpPr>
        <p:spPr>
          <a:xfrm>
            <a:off x="3445459" y="5097780"/>
            <a:ext cx="916229" cy="411480"/>
          </a:xfrm>
          <a:prstGeom prst="roundRect">
            <a:avLst>
              <a:gd name="adj" fmla="val 4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45459" y="5097780"/>
            <a:ext cx="9162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skills</a:t>
            </a:r>
            <a:endParaRPr lang="en-US" sz="1400" dirty="0"/>
          </a:p>
        </p:txBody>
      </p:sp>
      <p:sp>
        <p:nvSpPr>
          <p:cNvPr id="29" name="Table job_skills"/>
          <p:cNvSpPr/>
          <p:nvPr/>
        </p:nvSpPr>
        <p:spPr>
          <a:xfrm>
            <a:off x="4498848" y="5097780"/>
            <a:ext cx="1252728" cy="411480"/>
          </a:xfrm>
          <a:prstGeom prst="roundRect">
            <a:avLst>
              <a:gd name="adj" fmla="val 4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98848" y="5097780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job_skills</a:t>
            </a:r>
            <a:endParaRPr lang="en-US" sz="1400" dirty="0"/>
          </a:p>
        </p:txBody>
      </p:sp>
      <p:sp>
        <p:nvSpPr>
          <p:cNvPr id="31" name="Table applications"/>
          <p:cNvSpPr/>
          <p:nvPr/>
        </p:nvSpPr>
        <p:spPr>
          <a:xfrm>
            <a:off x="5888736" y="5097780"/>
            <a:ext cx="1420978" cy="411480"/>
          </a:xfrm>
          <a:prstGeom prst="roundRect">
            <a:avLst>
              <a:gd name="adj" fmla="val 4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88736" y="5097780"/>
            <a:ext cx="1420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applications</a:t>
            </a:r>
            <a:endParaRPr lang="en-US" sz="1400" dirty="0"/>
          </a:p>
        </p:txBody>
      </p:sp>
      <p:sp>
        <p:nvSpPr>
          <p:cNvPr id="33" name="Integrity card"/>
          <p:cNvSpPr/>
          <p:nvPr/>
        </p:nvSpPr>
        <p:spPr>
          <a:xfrm>
            <a:off x="8046720" y="1508760"/>
            <a:ext cx="3593592" cy="4480560"/>
          </a:xfrm>
          <a:prstGeom prst="roundRect">
            <a:avLst>
              <a:gd name="adj" fmla="val 3053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2104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Integrity built in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224028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UNIQUE(job_id, candidate_id) blocks double applications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Foreign keys with cascading deletes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Unique email and canonical skill key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Composite index on category + type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transaction per request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Resume parsing pipeline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554480"/>
            <a:ext cx="1940357" cy="2743200"/>
          </a:xfrm>
          <a:prstGeom prst="roundRect">
            <a:avLst>
              <a:gd name="adj" fmla="val 565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" name="Step number 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Upload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157459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PDF, DOCX, TXT, MD, RTF, CSV or JSON up to 5 MB</a:t>
            </a:r>
            <a:endParaRPr lang="en-US" sz="1500" dirty="0"/>
          </a:p>
        </p:txBody>
      </p:sp>
      <p:sp>
        <p:nvSpPr>
          <p:cNvPr id="8" name="Pipeline arrow 1"/>
          <p:cNvSpPr/>
          <p:nvPr/>
        </p:nvSpPr>
        <p:spPr>
          <a:xfrm>
            <a:off x="2525573" y="288036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 card 2"/>
          <p:cNvSpPr/>
          <p:nvPr/>
        </p:nvSpPr>
        <p:spPr>
          <a:xfrm>
            <a:off x="2836469" y="1554480"/>
            <a:ext cx="1940357" cy="2743200"/>
          </a:xfrm>
          <a:prstGeom prst="roundRect">
            <a:avLst>
              <a:gd name="adj" fmla="val 565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0" name="Step number 2"/>
          <p:cNvSpPr/>
          <p:nvPr/>
        </p:nvSpPr>
        <p:spPr>
          <a:xfrm>
            <a:off x="3065069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5069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65069" y="256032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Extract text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065069" y="3017520"/>
            <a:ext cx="157459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pypdf and python-docx read the raw text</a:t>
            </a:r>
            <a:endParaRPr lang="en-US" sz="1500" dirty="0"/>
          </a:p>
        </p:txBody>
      </p:sp>
      <p:sp>
        <p:nvSpPr>
          <p:cNvPr id="14" name="Pipeline arrow 2"/>
          <p:cNvSpPr/>
          <p:nvPr/>
        </p:nvSpPr>
        <p:spPr>
          <a:xfrm>
            <a:off x="4813402" y="288036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ep card 3"/>
          <p:cNvSpPr/>
          <p:nvPr/>
        </p:nvSpPr>
        <p:spPr>
          <a:xfrm>
            <a:off x="5124298" y="1554480"/>
            <a:ext cx="1940357" cy="2743200"/>
          </a:xfrm>
          <a:prstGeom prst="roundRect">
            <a:avLst>
              <a:gd name="adj" fmla="val 565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6" name="Step number 3"/>
          <p:cNvSpPr/>
          <p:nvPr/>
        </p:nvSpPr>
        <p:spPr>
          <a:xfrm>
            <a:off x="5352898" y="178308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5289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352898" y="256032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Detect sections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352898" y="3017520"/>
            <a:ext cx="157459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Headings split the text into resume sections</a:t>
            </a:r>
            <a:endParaRPr lang="en-US" sz="1500" dirty="0"/>
          </a:p>
        </p:txBody>
      </p:sp>
      <p:sp>
        <p:nvSpPr>
          <p:cNvPr id="20" name="Pipeline arrow 3"/>
          <p:cNvSpPr/>
          <p:nvPr/>
        </p:nvSpPr>
        <p:spPr>
          <a:xfrm>
            <a:off x="7101230" y="288036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tep card 4"/>
          <p:cNvSpPr/>
          <p:nvPr/>
        </p:nvSpPr>
        <p:spPr>
          <a:xfrm>
            <a:off x="7412126" y="1554480"/>
            <a:ext cx="1940357" cy="2743200"/>
          </a:xfrm>
          <a:prstGeom prst="roundRect">
            <a:avLst>
              <a:gd name="adj" fmla="val 565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2" name="Step number 4"/>
          <p:cNvSpPr/>
          <p:nvPr/>
        </p:nvSpPr>
        <p:spPr>
          <a:xfrm>
            <a:off x="7640726" y="17830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4072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640726" y="256032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Structure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640726" y="3017520"/>
            <a:ext cx="157459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Contact, skills, experience years, education, certifications</a:t>
            </a:r>
            <a:endParaRPr lang="en-US" sz="1500" dirty="0"/>
          </a:p>
        </p:txBody>
      </p:sp>
      <p:sp>
        <p:nvSpPr>
          <p:cNvPr id="26" name="Pipeline arrow 4"/>
          <p:cNvSpPr/>
          <p:nvPr/>
        </p:nvSpPr>
        <p:spPr>
          <a:xfrm>
            <a:off x="9389059" y="288036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Step card 5"/>
          <p:cNvSpPr/>
          <p:nvPr/>
        </p:nvSpPr>
        <p:spPr>
          <a:xfrm>
            <a:off x="9699955" y="1554480"/>
            <a:ext cx="1940357" cy="2743200"/>
          </a:xfrm>
          <a:prstGeom prst="roundRect">
            <a:avLst>
              <a:gd name="adj" fmla="val 5655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8" name="Step number 5"/>
          <p:cNvSpPr/>
          <p:nvPr/>
        </p:nvSpPr>
        <p:spPr>
          <a:xfrm>
            <a:off x="9928555" y="17830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28555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928555" y="256032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ATS audit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9928555" y="3017520"/>
            <a:ext cx="157459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Score plus issues, warnings and strengths</a:t>
            </a:r>
            <a:endParaRPr lang="en-US" sz="1500" dirty="0"/>
          </a:p>
        </p:txBody>
      </p:sp>
      <p:sp>
        <p:nvSpPr>
          <p:cNvPr id="32" name="Callout nothing invented"/>
          <p:cNvSpPr/>
          <p:nvPr/>
        </p:nvSpPr>
        <p:spPr>
          <a:xfrm>
            <a:off x="548640" y="4663440"/>
            <a:ext cx="11091672" cy="1371600"/>
          </a:xfrm>
          <a:prstGeom prst="roundRect">
            <a:avLst>
              <a:gd name="adj" fmla="val 80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33" name="Honest parsing circle"/>
          <p:cNvSpPr/>
          <p:nvPr/>
        </p:nvSpPr>
        <p:spPr>
          <a:xfrm>
            <a:off x="868680" y="5029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mage 0" descr="Honest pars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5202022"/>
            <a:ext cx="294437" cy="294437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783080" y="49377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Nothing is invented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1783080" y="53949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If an email, phone or skill is missing, the field stays empty and the audit flags it. The first prototype filled in placeholder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Matching engine: four weighted factors</a:t>
            </a:r>
            <a:endParaRPr lang="en-US" sz="3600" dirty="0"/>
          </a:p>
        </p:txBody>
      </p:sp>
      <p:sp>
        <p:nvSpPr>
          <p:cNvPr id="3" name="Chart card"/>
          <p:cNvSpPr/>
          <p:nvPr/>
        </p:nvSpPr>
        <p:spPr>
          <a:xfrm>
            <a:off x="548640" y="1508760"/>
            <a:ext cx="512064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49377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ier Strong Fit"/>
          <p:cNvSpPr/>
          <p:nvPr/>
        </p:nvSpPr>
        <p:spPr>
          <a:xfrm>
            <a:off x="5989320" y="1508760"/>
            <a:ext cx="5650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6" name="Tier pill Strong Fit"/>
          <p:cNvSpPr/>
          <p:nvPr/>
        </p:nvSpPr>
        <p:spPr>
          <a:xfrm>
            <a:off x="6126480" y="1636776"/>
            <a:ext cx="1097280" cy="47548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0" y="163677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≥ 80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15819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Strong Fit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19110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Apply with confidence</a:t>
            </a:r>
            <a:endParaRPr lang="en-US" sz="1400" dirty="0"/>
          </a:p>
        </p:txBody>
      </p:sp>
      <p:sp>
        <p:nvSpPr>
          <p:cNvPr id="10" name="Tier Worthy Candidate"/>
          <p:cNvSpPr/>
          <p:nvPr/>
        </p:nvSpPr>
        <p:spPr>
          <a:xfrm>
            <a:off x="5989320" y="2377440"/>
            <a:ext cx="5650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1" name="Tier pill Worthy Candidate"/>
          <p:cNvSpPr/>
          <p:nvPr/>
        </p:nvSpPr>
        <p:spPr>
          <a:xfrm>
            <a:off x="6126480" y="2505456"/>
            <a:ext cx="1097280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26480" y="250545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≥ 65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2450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Worthy Candidate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2779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Good match, minor gaps</a:t>
            </a:r>
            <a:endParaRPr lang="en-US" sz="1400" dirty="0"/>
          </a:p>
        </p:txBody>
      </p:sp>
      <p:sp>
        <p:nvSpPr>
          <p:cNvPr id="15" name="Tier Moderate Fit"/>
          <p:cNvSpPr/>
          <p:nvPr/>
        </p:nvSpPr>
        <p:spPr>
          <a:xfrm>
            <a:off x="5989320" y="3246120"/>
            <a:ext cx="5650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6" name="Tier pill Moderate Fit"/>
          <p:cNvSpPr/>
          <p:nvPr/>
        </p:nvSpPr>
        <p:spPr>
          <a:xfrm>
            <a:off x="6126480" y="3374136"/>
            <a:ext cx="1097280" cy="4754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26480" y="33741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≥ 50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3319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Moderate Fit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3648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Some key skills missing</a:t>
            </a:r>
            <a:endParaRPr lang="en-US" sz="1400" dirty="0"/>
          </a:p>
        </p:txBody>
      </p:sp>
      <p:sp>
        <p:nvSpPr>
          <p:cNvPr id="20" name="Tier High Gap"/>
          <p:cNvSpPr/>
          <p:nvPr/>
        </p:nvSpPr>
        <p:spPr>
          <a:xfrm>
            <a:off x="5989320" y="4114800"/>
            <a:ext cx="5650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1" name="Tier pill High Gap"/>
          <p:cNvSpPr/>
          <p:nvPr/>
        </p:nvSpPr>
        <p:spPr>
          <a:xfrm>
            <a:off x="6126480" y="4242816"/>
            <a:ext cx="1097280" cy="4754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26480" y="424281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&lt; 50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406640" y="4187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High Gap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406640" y="4517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Large skill or experience gap</a:t>
            </a:r>
            <a:endParaRPr lang="en-US" sz="1400" dirty="0"/>
          </a:p>
        </p:txBody>
      </p:sp>
      <p:sp>
        <p:nvSpPr>
          <p:cNvPr id="25" name="Canonical key callout"/>
          <p:cNvSpPr/>
          <p:nvPr/>
        </p:nvSpPr>
        <p:spPr>
          <a:xfrm>
            <a:off x="5989320" y="5029200"/>
            <a:ext cx="5650992" cy="1051560"/>
          </a:xfrm>
          <a:prstGeom prst="roundRect">
            <a:avLst>
              <a:gd name="adj" fmla="val 1043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>
                <a:alpha val="70000"/>
              </a:scheme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63640" y="5212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Skills match by canonical key.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Postgres = PostgreSQL, but Java ≠ JavaScript and Go ≠ MongoDB.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31 REST endpoints across six services</a:t>
            </a:r>
            <a:endParaRPr lang="en-US" sz="3600" dirty="0"/>
          </a:p>
        </p:txBody>
      </p:sp>
      <p:sp>
        <p:nvSpPr>
          <p:cNvPr id="3" name="API card Auth"/>
          <p:cNvSpPr/>
          <p:nvPr/>
        </p:nvSpPr>
        <p:spPr>
          <a:xfrm>
            <a:off x="548640" y="155448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73736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Auth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POST /auth/register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POST /auth/login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GET /auth/me</a:t>
            </a:r>
            <a:endParaRPr lang="en-US" sz="1400" dirty="0"/>
          </a:p>
        </p:txBody>
      </p:sp>
      <p:sp>
        <p:nvSpPr>
          <p:cNvPr id="7" name="API card Profile"/>
          <p:cNvSpPr/>
          <p:nvPr/>
        </p:nvSpPr>
        <p:spPr>
          <a:xfrm>
            <a:off x="4337304" y="155448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1624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343144" y="173736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Profile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611624" y="251460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GET · PATCH /profile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GET /profile/candidates/{id}</a:t>
            </a:r>
            <a:endParaRPr lang="en-US" sz="1400" dirty="0"/>
          </a:p>
        </p:txBody>
      </p:sp>
      <p:sp>
        <p:nvSpPr>
          <p:cNvPr id="11" name="API card Jobs"/>
          <p:cNvSpPr/>
          <p:nvPr/>
        </p:nvSpPr>
        <p:spPr>
          <a:xfrm>
            <a:off x="8125968" y="155448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0288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7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131808" y="173736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Jobs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400288" y="251460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GET /jobs  (filters, paging)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GET /jobs/mine · /categories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POST · PATCH · DELETE</a:t>
            </a:r>
            <a:endParaRPr lang="en-US" sz="1400" dirty="0"/>
          </a:p>
        </p:txBody>
      </p:sp>
      <p:sp>
        <p:nvSpPr>
          <p:cNvPr id="15" name="API card Resumes"/>
          <p:cNvSpPr/>
          <p:nvPr/>
        </p:nvSpPr>
        <p:spPr>
          <a:xfrm>
            <a:off x="548640" y="397764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7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6052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Resumes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3776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POST /resumes/upload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GET /resumes/{id}/audit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POST /resumes/{id}/sync-profile</a:t>
            </a:r>
            <a:endParaRPr lang="en-US" sz="1400" dirty="0"/>
          </a:p>
        </p:txBody>
      </p:sp>
      <p:sp>
        <p:nvSpPr>
          <p:cNvPr id="19" name="API card Matching"/>
          <p:cNvSpPr/>
          <p:nvPr/>
        </p:nvSpPr>
        <p:spPr>
          <a:xfrm>
            <a:off x="4337304" y="397764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11624" y="4160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3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5343144" y="416052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Matching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4611624" y="493776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POST /matching/evaluate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GET /matching/recommendations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GET /matching/jobs/{id}/candidates</a:t>
            </a:r>
            <a:endParaRPr lang="en-US" sz="1400" dirty="0"/>
          </a:p>
        </p:txBody>
      </p:sp>
      <p:sp>
        <p:nvSpPr>
          <p:cNvPr id="23" name="API card Applications"/>
          <p:cNvSpPr/>
          <p:nvPr/>
        </p:nvSpPr>
        <p:spPr>
          <a:xfrm>
            <a:off x="8125968" y="3977640"/>
            <a:ext cx="351434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00288" y="4160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7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131808" y="416052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Applications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8400288" y="493776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POST /applications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PATCH /applications/{id}/status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GET /applications/stats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Two roles, enforced on every route</a:t>
            </a:r>
            <a:endParaRPr lang="en-US" sz="3600" dirty="0"/>
          </a:p>
        </p:txBody>
      </p:sp>
      <p:sp>
        <p:nvSpPr>
          <p:cNvPr id="3" name="Role card Job seeker"/>
          <p:cNvSpPr/>
          <p:nvPr/>
        </p:nvSpPr>
        <p:spPr>
          <a:xfrm>
            <a:off x="548640" y="1508760"/>
            <a:ext cx="5408676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" name="Job seeker circle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Job seek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189783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737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Job seeker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4754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Search jobs with filters and pagination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Parse resumes and run the ATS audit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Get personalised recommendations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Apply once, withdraw any time</a:t>
            </a:r>
            <a:endParaRPr lang="en-US" sz="1700" dirty="0"/>
          </a:p>
        </p:txBody>
      </p:sp>
      <p:sp>
        <p:nvSpPr>
          <p:cNvPr id="8" name="Role card Recruiter"/>
          <p:cNvSpPr/>
          <p:nvPr/>
        </p:nvSpPr>
        <p:spPr>
          <a:xfrm>
            <a:off x="6231636" y="1508760"/>
            <a:ext cx="5408676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9" name="Recruiter circle"/>
          <p:cNvSpPr/>
          <p:nvPr/>
        </p:nvSpPr>
        <p:spPr>
          <a:xfrm>
            <a:off x="6505956" y="17373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Recruit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433" y="1897837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83196" y="1737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Recruiter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551676" y="2606040"/>
            <a:ext cx="4754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Post, edit and delete their own jobs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Rank candidates for each job by score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Review applicants and parsed resumes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Move applications through the pipeline</a:t>
            </a:r>
            <a:endParaRPr lang="en-US" sz="1700" dirty="0"/>
          </a:p>
        </p:txBody>
      </p:sp>
      <p:sp>
        <p:nvSpPr>
          <p:cNvPr id="13" name="Security card bcrypt"/>
          <p:cNvSpPr/>
          <p:nvPr/>
        </p:nvSpPr>
        <p:spPr>
          <a:xfrm>
            <a:off x="548640" y="4800600"/>
            <a:ext cx="2601468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4" name="Security bcrypt circle"/>
          <p:cNvSpPr/>
          <p:nvPr/>
        </p:nvSpPr>
        <p:spPr>
          <a:xfrm>
            <a:off x="731520" y="5029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Security bcryp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5152644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5029200"/>
            <a:ext cx="1687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bcrypt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5577840"/>
            <a:ext cx="22357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hashed passwords</a:t>
            </a:r>
            <a:endParaRPr lang="en-US" sz="1400" dirty="0"/>
          </a:p>
        </p:txBody>
      </p:sp>
      <p:sp>
        <p:nvSpPr>
          <p:cNvPr id="18" name="Security card JWT · 60 min"/>
          <p:cNvSpPr/>
          <p:nvPr/>
        </p:nvSpPr>
        <p:spPr>
          <a:xfrm>
            <a:off x="3378708" y="4800600"/>
            <a:ext cx="2601468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9" name="Security JWT · 60 min circle"/>
          <p:cNvSpPr/>
          <p:nvPr/>
        </p:nvSpPr>
        <p:spPr>
          <a:xfrm>
            <a:off x="3561588" y="50292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mage 3" descr="Security JWT · 60 mi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5152644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155948" y="5029200"/>
            <a:ext cx="1687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JWT · 60 min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3561588" y="5577840"/>
            <a:ext cx="22357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HS256 access tokens</a:t>
            </a:r>
            <a:endParaRPr lang="en-US" sz="1400" dirty="0"/>
          </a:p>
        </p:txBody>
      </p:sp>
      <p:sp>
        <p:nvSpPr>
          <p:cNvPr id="23" name="Security card 401 / 403"/>
          <p:cNvSpPr/>
          <p:nvPr/>
        </p:nvSpPr>
        <p:spPr>
          <a:xfrm>
            <a:off x="6208776" y="4800600"/>
            <a:ext cx="2601468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4" name="Security 401 / 403 circle"/>
          <p:cNvSpPr/>
          <p:nvPr/>
        </p:nvSpPr>
        <p:spPr>
          <a:xfrm>
            <a:off x="6391656" y="50292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mage 4" descr="Security 401 / 403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5152644"/>
            <a:ext cx="210312" cy="2103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86016" y="5029200"/>
            <a:ext cx="1687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401 / 403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6391656" y="5577840"/>
            <a:ext cx="22357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token or wrong role</a:t>
            </a:r>
            <a:endParaRPr lang="en-US" sz="1400" dirty="0"/>
          </a:p>
        </p:txBody>
      </p:sp>
      <p:sp>
        <p:nvSpPr>
          <p:cNvPr id="28" name="Security card UNIQUE"/>
          <p:cNvSpPr/>
          <p:nvPr/>
        </p:nvSpPr>
        <p:spPr>
          <a:xfrm>
            <a:off x="9038844" y="4800600"/>
            <a:ext cx="2601468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9" name="Security UNIQUE circle"/>
          <p:cNvSpPr/>
          <p:nvPr/>
        </p:nvSpPr>
        <p:spPr>
          <a:xfrm>
            <a:off x="9221724" y="5029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mage 5" descr="Security UNIQU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68" y="5152644"/>
            <a:ext cx="210312" cy="21031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816084" y="5029200"/>
            <a:ext cx="1687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UNIQUE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9221724" y="5577840"/>
            <a:ext cx="22357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application per job and candidate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Verified with Pytest and Postman</a:t>
            </a:r>
            <a:endParaRPr lang="en-US" sz="3600" dirty="0"/>
          </a:p>
        </p:txBody>
      </p:sp>
      <p:sp>
        <p:nvSpPr>
          <p:cNvPr id="3" name="Stat Pytest tests"/>
          <p:cNvSpPr/>
          <p:nvPr/>
        </p:nvSpPr>
        <p:spPr>
          <a:xfrm>
            <a:off x="548640" y="1508760"/>
            <a:ext cx="256717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16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Pytest tests</a:t>
            </a:r>
            <a:endParaRPr lang="en-US" sz="1600" dirty="0"/>
          </a:p>
        </p:txBody>
      </p:sp>
      <p:sp>
        <p:nvSpPr>
          <p:cNvPr id="6" name="Stat Postman requests"/>
          <p:cNvSpPr/>
          <p:nvPr/>
        </p:nvSpPr>
        <p:spPr>
          <a:xfrm>
            <a:off x="3390138" y="1508760"/>
            <a:ext cx="256717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35858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45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481578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Postman requests</a:t>
            </a:r>
            <a:endParaRPr lang="en-US" sz="1600" dirty="0"/>
          </a:p>
        </p:txBody>
      </p:sp>
      <p:sp>
        <p:nvSpPr>
          <p:cNvPr id="9" name="Stat test assertions"/>
          <p:cNvSpPr/>
          <p:nvPr/>
        </p:nvSpPr>
        <p:spPr>
          <a:xfrm>
            <a:off x="6231636" y="1508760"/>
            <a:ext cx="256717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7356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6"/>
                </a:solidFill>
              </a:rPr>
              <a:t>74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323076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test assertions</a:t>
            </a:r>
            <a:endParaRPr lang="en-US" sz="1600" dirty="0"/>
          </a:p>
        </p:txBody>
      </p:sp>
      <p:sp>
        <p:nvSpPr>
          <p:cNvPr id="12" name="Stat error paths asserted"/>
          <p:cNvSpPr/>
          <p:nvPr/>
        </p:nvSpPr>
        <p:spPr>
          <a:xfrm>
            <a:off x="9073134" y="1508760"/>
            <a:ext cx="256717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18854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401·403·409·422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164574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error paths asserted</a:t>
            </a:r>
            <a:endParaRPr lang="en-US" sz="1600" dirty="0"/>
          </a:p>
        </p:txBody>
      </p:sp>
      <p:sp>
        <p:nvSpPr>
          <p:cNvPr id="15" name="Test card Pytest covers"/>
          <p:cNvSpPr/>
          <p:nvPr/>
        </p:nvSpPr>
        <p:spPr>
          <a:xfrm>
            <a:off x="548640" y="3611880"/>
            <a:ext cx="5408676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6" name="Pytest covers circle"/>
          <p:cNvSpPr/>
          <p:nvPr/>
        </p:nvSpPr>
        <p:spPr>
          <a:xfrm>
            <a:off x="822960" y="3794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0" descr="Pytest cov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3930548"/>
            <a:ext cx="231343" cy="231343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508760" y="3794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Pytest covers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44348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Resume parser and matching engine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Auth and role permissions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Job CRUD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Uploads: txt, docx, json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Full application lifecycle</a:t>
            </a:r>
            <a:endParaRPr lang="en-US" sz="1500" dirty="0"/>
          </a:p>
        </p:txBody>
      </p:sp>
      <p:sp>
        <p:nvSpPr>
          <p:cNvPr id="20" name="Test card Postman collection"/>
          <p:cNvSpPr/>
          <p:nvPr/>
        </p:nvSpPr>
        <p:spPr>
          <a:xfrm>
            <a:off x="6231636" y="3611880"/>
            <a:ext cx="5408676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1" name="Postman collection circle"/>
          <p:cNvSpPr/>
          <p:nvPr/>
        </p:nvSpPr>
        <p:spPr>
          <a:xfrm>
            <a:off x="6505956" y="37947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mage 1" descr="Postman collectio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744" y="3930548"/>
            <a:ext cx="231343" cy="23134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191756" y="3794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Postman collection</a:t>
            </a:r>
            <a:endParaRPr lang="en-US" sz="2100" dirty="0"/>
          </a:p>
        </p:txBody>
      </p:sp>
      <p:sp>
        <p:nvSpPr>
          <p:cNvPr id="24" name="Text 20"/>
          <p:cNvSpPr txBox="1"/>
          <p:nvPr/>
        </p:nvSpPr>
        <p:spPr>
          <a:xfrm>
            <a:off x="6551676" y="44348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8 folders, from health check to cleanup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Login saves JWTs; later calls save ids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Verified with Newman on a live server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Environment: base_url = localhost:8000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User journeys</a:t>
            </a:r>
            <a:endParaRPr lang="en-US" sz="3600" dirty="0"/>
          </a:p>
        </p:txBody>
      </p:sp>
      <p:sp>
        <p:nvSpPr>
          <p:cNvPr id="3" name="Lane Job seeker"/>
          <p:cNvSpPr/>
          <p:nvPr/>
        </p:nvSpPr>
        <p:spPr>
          <a:xfrm>
            <a:off x="548640" y="1508760"/>
            <a:ext cx="1109167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" name="Job seeker circle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Job seek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203499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Job seeker</a:t>
            </a:r>
            <a:endParaRPr lang="en-US" sz="1800" dirty="0"/>
          </a:p>
        </p:txBody>
      </p:sp>
      <p:sp>
        <p:nvSpPr>
          <p:cNvPr id="7" name="Job seeker step 1"/>
          <p:cNvSpPr/>
          <p:nvPr/>
        </p:nvSpPr>
        <p:spPr>
          <a:xfrm>
            <a:off x="297180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971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2971800" y="23774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Register and log in</a:t>
            </a:r>
            <a:endParaRPr lang="en-US" sz="1500" dirty="0"/>
          </a:p>
        </p:txBody>
      </p:sp>
      <p:sp>
        <p:nvSpPr>
          <p:cNvPr id="10" name="Job seeker arrow 1"/>
          <p:cNvSpPr/>
          <p:nvPr/>
        </p:nvSpPr>
        <p:spPr>
          <a:xfrm>
            <a:off x="3611880" y="1874520"/>
            <a:ext cx="731520" cy="274320"/>
          </a:xfrm>
          <a:prstGeom prst="rightArrow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Job seeker step 2"/>
          <p:cNvSpPr/>
          <p:nvPr/>
        </p:nvSpPr>
        <p:spPr>
          <a:xfrm>
            <a:off x="516636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663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23774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Upload or paste a resume</a:t>
            </a:r>
            <a:endParaRPr lang="en-US" sz="1500" dirty="0"/>
          </a:p>
        </p:txBody>
      </p:sp>
      <p:sp>
        <p:nvSpPr>
          <p:cNvPr id="14" name="Job seeker arrow 2"/>
          <p:cNvSpPr/>
          <p:nvPr/>
        </p:nvSpPr>
        <p:spPr>
          <a:xfrm>
            <a:off x="5806440" y="1874520"/>
            <a:ext cx="731520" cy="274320"/>
          </a:xfrm>
          <a:prstGeom prst="rightArrow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Job seeker step 3"/>
          <p:cNvSpPr/>
          <p:nvPr/>
        </p:nvSpPr>
        <p:spPr>
          <a:xfrm>
            <a:off x="736092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609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360920" y="23774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See ATS audit and match score</a:t>
            </a:r>
            <a:endParaRPr lang="en-US" sz="1500" dirty="0"/>
          </a:p>
        </p:txBody>
      </p:sp>
      <p:sp>
        <p:nvSpPr>
          <p:cNvPr id="18" name="Job seeker arrow 3"/>
          <p:cNvSpPr/>
          <p:nvPr/>
        </p:nvSpPr>
        <p:spPr>
          <a:xfrm>
            <a:off x="8001000" y="1874520"/>
            <a:ext cx="731520" cy="274320"/>
          </a:xfrm>
          <a:prstGeom prst="rightArrow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Job seeker step 4"/>
          <p:cNvSpPr/>
          <p:nvPr/>
        </p:nvSpPr>
        <p:spPr>
          <a:xfrm>
            <a:off x="955548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5554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4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9555480" y="23774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Apply to the best fits</a:t>
            </a:r>
            <a:endParaRPr lang="en-US" sz="1500" dirty="0"/>
          </a:p>
        </p:txBody>
      </p:sp>
      <p:sp>
        <p:nvSpPr>
          <p:cNvPr id="22" name="Lane Recruiter"/>
          <p:cNvSpPr/>
          <p:nvPr/>
        </p:nvSpPr>
        <p:spPr>
          <a:xfrm>
            <a:off x="548640" y="3474720"/>
            <a:ext cx="1109167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23" name="Recruiter circle"/>
          <p:cNvSpPr/>
          <p:nvPr/>
        </p:nvSpPr>
        <p:spPr>
          <a:xfrm>
            <a:off x="822960" y="38404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mage 1" descr="Recruit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7" y="4000957"/>
            <a:ext cx="273406" cy="27340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22960" y="4526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Recruiter</a:t>
            </a:r>
            <a:endParaRPr lang="en-US" sz="1800" dirty="0"/>
          </a:p>
        </p:txBody>
      </p:sp>
      <p:sp>
        <p:nvSpPr>
          <p:cNvPr id="26" name="Recruiter step 1"/>
          <p:cNvSpPr/>
          <p:nvPr/>
        </p:nvSpPr>
        <p:spPr>
          <a:xfrm>
            <a:off x="297180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29718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1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2971800" y="43434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Post a job</a:t>
            </a:r>
            <a:endParaRPr lang="en-US" sz="1500" dirty="0"/>
          </a:p>
        </p:txBody>
      </p:sp>
      <p:sp>
        <p:nvSpPr>
          <p:cNvPr id="29" name="Recruiter arrow 1"/>
          <p:cNvSpPr/>
          <p:nvPr/>
        </p:nvSpPr>
        <p:spPr>
          <a:xfrm>
            <a:off x="3611880" y="3840480"/>
            <a:ext cx="731520" cy="274320"/>
          </a:xfrm>
          <a:prstGeom prst="rightArrow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Recruiter step 2"/>
          <p:cNvSpPr/>
          <p:nvPr/>
        </p:nvSpPr>
        <p:spPr>
          <a:xfrm>
            <a:off x="516636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1663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2</a:t>
            </a:r>
            <a:endParaRPr lang="en-US" sz="1700" dirty="0"/>
          </a:p>
        </p:txBody>
      </p:sp>
      <p:sp>
        <p:nvSpPr>
          <p:cNvPr id="32" name="Text 28"/>
          <p:cNvSpPr txBox="1"/>
          <p:nvPr/>
        </p:nvSpPr>
        <p:spPr>
          <a:xfrm>
            <a:off x="5166360" y="43434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Applications arrive scored</a:t>
            </a:r>
            <a:endParaRPr lang="en-US" sz="1500" dirty="0"/>
          </a:p>
        </p:txBody>
      </p:sp>
      <p:sp>
        <p:nvSpPr>
          <p:cNvPr id="33" name="Recruiter arrow 2"/>
          <p:cNvSpPr/>
          <p:nvPr/>
        </p:nvSpPr>
        <p:spPr>
          <a:xfrm>
            <a:off x="5806440" y="3840480"/>
            <a:ext cx="731520" cy="274320"/>
          </a:xfrm>
          <a:prstGeom prst="rightArrow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Recruiter step 3"/>
          <p:cNvSpPr/>
          <p:nvPr/>
        </p:nvSpPr>
        <p:spPr>
          <a:xfrm>
            <a:off x="736092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3609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3</a:t>
            </a:r>
            <a:endParaRPr lang="en-US" sz="1700" dirty="0"/>
          </a:p>
        </p:txBody>
      </p:sp>
      <p:sp>
        <p:nvSpPr>
          <p:cNvPr id="36" name="Text 32"/>
          <p:cNvSpPr txBox="1"/>
          <p:nvPr/>
        </p:nvSpPr>
        <p:spPr>
          <a:xfrm>
            <a:off x="7360920" y="43434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Review ranked candidates</a:t>
            </a:r>
            <a:endParaRPr lang="en-US" sz="1500" dirty="0"/>
          </a:p>
        </p:txBody>
      </p:sp>
      <p:sp>
        <p:nvSpPr>
          <p:cNvPr id="37" name="Recruiter arrow 3"/>
          <p:cNvSpPr/>
          <p:nvPr/>
        </p:nvSpPr>
        <p:spPr>
          <a:xfrm>
            <a:off x="8001000" y="3840480"/>
            <a:ext cx="731520" cy="274320"/>
          </a:xfrm>
          <a:prstGeom prst="rightArrow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Recruiter step 4"/>
          <p:cNvSpPr/>
          <p:nvPr/>
        </p:nvSpPr>
        <p:spPr>
          <a:xfrm>
            <a:off x="955548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5554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4</a:t>
            </a:r>
            <a:endParaRPr lang="en-US" sz="1700" dirty="0"/>
          </a:p>
        </p:txBody>
      </p:sp>
      <p:sp>
        <p:nvSpPr>
          <p:cNvPr id="40" name="Text 36"/>
          <p:cNvSpPr txBox="1"/>
          <p:nvPr/>
        </p:nvSpPr>
        <p:spPr>
          <a:xfrm>
            <a:off x="9555480" y="43434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Update application status</a:t>
            </a:r>
            <a:endParaRPr lang="en-US" sz="1500" dirty="0"/>
          </a:p>
        </p:txBody>
      </p:sp>
      <p:sp>
        <p:nvSpPr>
          <p:cNvPr id="41" name="Frontend note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accent4">
              <a:alpha val="18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 screens: JobSearch, ResumeParser, ResumeBuilder, ProfileView, RecruiterPortal. The prototype keeps data in localStorage; the FastAPI backend replaces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Roadmap: toward a distributed backend</a:t>
            </a:r>
            <a:endParaRPr lang="en-US" sz="3600" dirty="0"/>
          </a:p>
        </p:txBody>
      </p:sp>
      <p:sp>
        <p:nvSpPr>
          <p:cNvPr id="3" name="Phase card 1"/>
          <p:cNvSpPr/>
          <p:nvPr/>
        </p:nvSpPr>
        <p:spPr>
          <a:xfrm>
            <a:off x="548640" y="1554480"/>
            <a:ext cx="3514344" cy="420624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4" name="Phase 1 circle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hase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00162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PHASE 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Speed and smarter matching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2965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Redis cache for /jobs and recommendations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pgvector embeddings (HNSW / ANN) beside the keyword score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Elasticsearch-powered search</a:t>
            </a:r>
            <a:endParaRPr lang="en-US" sz="1700" dirty="0"/>
          </a:p>
        </p:txBody>
      </p:sp>
      <p:sp>
        <p:nvSpPr>
          <p:cNvPr id="9" name="Phase card 2"/>
          <p:cNvSpPr/>
          <p:nvPr/>
        </p:nvSpPr>
        <p:spPr>
          <a:xfrm>
            <a:off x="4337304" y="1554480"/>
            <a:ext cx="3514344" cy="420624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0" name="Phase 2 circle"/>
          <p:cNvSpPr/>
          <p:nvPr/>
        </p:nvSpPr>
        <p:spPr>
          <a:xfrm>
            <a:off x="4611624" y="18288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hase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446" y="200162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4584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PHASE 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27889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Split into services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11624" y="3657600"/>
            <a:ext cx="2965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Node.js/Express and Spring Boot microservices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MongoDB (Motor) alongside PostgreSQL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Python NLP microservice for parsing</a:t>
            </a:r>
            <a:endParaRPr lang="en-US" sz="1700" dirty="0"/>
          </a:p>
        </p:txBody>
      </p:sp>
      <p:sp>
        <p:nvSpPr>
          <p:cNvPr id="15" name="Phase card 3"/>
          <p:cNvSpPr/>
          <p:nvPr/>
        </p:nvSpPr>
        <p:spPr>
          <a:xfrm>
            <a:off x="8125968" y="1554480"/>
            <a:ext cx="3514344" cy="420624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16" name="Phase 3 circle"/>
          <p:cNvSpPr/>
          <p:nvPr/>
        </p:nvSpPr>
        <p:spPr>
          <a:xfrm>
            <a:off x="8400288" y="18288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2" descr="Phase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3110" y="2001622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23248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PHASE 3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400288" y="27889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Operate with confidence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400288" y="3657600"/>
            <a:ext cx="2965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GitHub Actions CI pipeline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OpenTelemetry, Prometheus and Grafana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Kubernetes deployment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Thank you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</a:rPr>
              <a:t>Questions?</a:t>
            </a:r>
            <a:endParaRPr lang="en-US" sz="3000" dirty="0"/>
          </a:p>
        </p:txBody>
      </p:sp>
      <p:sp>
        <p:nvSpPr>
          <p:cNvPr id="4" name="Run it card"/>
          <p:cNvSpPr/>
          <p:nvPr/>
        </p:nvSpPr>
        <p:spPr>
          <a:xfrm>
            <a:off x="731520" y="3611880"/>
            <a:ext cx="6035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4">
                <a:alpha val="3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3749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RUN IT LOCALLY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1148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uvicorn app.main:app --reload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Swagger UI at http://localhost:8000/docs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2578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M. Mohana Asmitha  ·  G. Laasya  ·  CH. Nohitha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6235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Team 13  ·  Sec 07  ·  KLH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reSphere Light">
  <a:themeElements>
    <a:clrScheme name="HireSphere Light">
      <a:dk1>
        <a:srgbClr val="1E293B"/>
      </a:dk1>
      <a:lt1>
        <a:srgbClr val="F8FAFF"/>
      </a:lt1>
      <a:dk2>
        <a:srgbClr val="475569"/>
      </a:dk2>
      <a:lt2>
        <a:srgbClr val="FFFFFF"/>
      </a:lt2>
      <a:accent1>
        <a:srgbClr val="0D9488"/>
      </a:accent1>
      <a:accent2>
        <a:srgbClr val="7C3AED"/>
      </a:accent2>
      <a:accent3>
        <a:srgbClr val="D97706"/>
      </a:accent3>
      <a:accent4>
        <a:srgbClr val="0284C7"/>
      </a:accent4>
      <a:accent5>
        <a:srgbClr val="DB2777"/>
      </a:accent5>
      <a:accent6>
        <a:srgbClr val="059669"/>
      </a:accent6>
      <a:hlink>
        <a:srgbClr val="0284C7"/>
      </a:hlink>
      <a:folHlink>
        <a:srgbClr val="7C3AED"/>
      </a:folHlink>
    </a:clrScheme>
    <a:fontScheme name="HireSphere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HireSphere – Job Portal with Resume Parsing &amp; Matching</dc:title>
  <dc:subject>PptxGenJS Presentation</dc:subject>
  <dc:creator>Team 13, Sec 07</dc:creator>
  <cp:lastModifiedBy>Team 13, Sec 07</cp:lastModifiedBy>
  <cp:revision>1</cp:revision>
  <dcterms:created xsi:type="dcterms:W3CDTF">2026-10-03T04:25:27Z</dcterms:created>
  <dcterms:modified xsi:type="dcterms:W3CDTF">2026-10-03T04:25:27Z</dcterms:modified>
</cp:coreProperties>
</file>